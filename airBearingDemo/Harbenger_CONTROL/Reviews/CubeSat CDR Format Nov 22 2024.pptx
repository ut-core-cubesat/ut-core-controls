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Lst>
  <p:notesMasterIdLst>
    <p:notesMasterId r:id="rId16"/>
  </p:notesMasterIdLst>
  <p:sldIdLst>
    <p:sldId id="256" r:id="rId5"/>
    <p:sldId id="257" r:id="rId6"/>
    <p:sldId id="258" r:id="rId7"/>
    <p:sldId id="259" r:id="rId8"/>
    <p:sldId id="260" r:id="rId9"/>
    <p:sldId id="261" r:id="rId10"/>
    <p:sldId id="262" r:id="rId11"/>
    <p:sldId id="263" r:id="rId12"/>
    <p:sldId id="265" r:id="rId13"/>
    <p:sldId id="267" r:id="rId14"/>
    <p:sldId id="266"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93" d="100"/>
          <a:sy n="93" d="100"/>
        </p:scale>
        <p:origin x="1272"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7156BB0-CEF2-4D6A-BBF9-F6473E380E89}" type="datetimeFigureOut">
              <a:rPr lang="en-US" smtClean="0"/>
              <a:t>11/22/2024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9D52F3F-8E66-42B6-9706-63F9394CA3EE}" type="slidenum">
              <a:rPr lang="en-US" smtClean="0"/>
              <a:t>‹#›</a:t>
            </a:fld>
            <a:endParaRPr lang="en-US"/>
          </a:p>
        </p:txBody>
      </p:sp>
    </p:spTree>
    <p:extLst>
      <p:ext uri="{BB962C8B-B14F-4D97-AF65-F5344CB8AC3E}">
        <p14:creationId xmlns:p14="http://schemas.microsoft.com/office/powerpoint/2010/main" val="9216795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149B1D-464B-8F28-149F-4CE5174FD55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6C302A3-70C5-79E0-A45B-55286994BB0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26DD3B5-F954-128C-2F93-7F6466CE30C2}"/>
              </a:ext>
            </a:extLst>
          </p:cNvPr>
          <p:cNvSpPr>
            <a:spLocks noGrp="1"/>
          </p:cNvSpPr>
          <p:nvPr>
            <p:ph type="dt" sz="half" idx="10"/>
          </p:nvPr>
        </p:nvSpPr>
        <p:spPr/>
        <p:txBody>
          <a:bodyPr/>
          <a:lstStyle/>
          <a:p>
            <a:fld id="{36EFC646-9889-4AA5-AED9-5DEAAB5D9C11}" type="datetime1">
              <a:rPr lang="en-US" smtClean="0"/>
              <a:t>11/22/2024</a:t>
            </a:fld>
            <a:endParaRPr lang="en-US"/>
          </a:p>
        </p:txBody>
      </p:sp>
      <p:sp>
        <p:nvSpPr>
          <p:cNvPr id="5" name="Footer Placeholder 4">
            <a:extLst>
              <a:ext uri="{FF2B5EF4-FFF2-40B4-BE49-F238E27FC236}">
                <a16:creationId xmlns:a16="http://schemas.microsoft.com/office/drawing/2014/main" id="{FAD88082-D589-4817-12D9-63F5D1B937C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DEB2469-0E7D-4EDB-DF14-D496889AF0A9}"/>
              </a:ext>
            </a:extLst>
          </p:cNvPr>
          <p:cNvSpPr>
            <a:spLocks noGrp="1"/>
          </p:cNvSpPr>
          <p:nvPr>
            <p:ph type="sldNum" sz="quarter" idx="12"/>
          </p:nvPr>
        </p:nvSpPr>
        <p:spPr/>
        <p:txBody>
          <a:bodyPr/>
          <a:lstStyle/>
          <a:p>
            <a:fld id="{2A7E1DE5-02E2-4677-84C1-33488A43A777}" type="slidenum">
              <a:rPr lang="en-US" smtClean="0"/>
              <a:t>‹#›</a:t>
            </a:fld>
            <a:endParaRPr lang="en-US"/>
          </a:p>
        </p:txBody>
      </p:sp>
    </p:spTree>
    <p:extLst>
      <p:ext uri="{BB962C8B-B14F-4D97-AF65-F5344CB8AC3E}">
        <p14:creationId xmlns:p14="http://schemas.microsoft.com/office/powerpoint/2010/main" val="14493374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EB0B88-1B63-B7E3-F35F-67B9042B230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5B9A272-8C8C-9E5C-3E27-8B0EC840AE9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5C3FFE8-F075-B9C3-858B-B48396F0C036}"/>
              </a:ext>
            </a:extLst>
          </p:cNvPr>
          <p:cNvSpPr>
            <a:spLocks noGrp="1"/>
          </p:cNvSpPr>
          <p:nvPr>
            <p:ph type="dt" sz="half" idx="10"/>
          </p:nvPr>
        </p:nvSpPr>
        <p:spPr/>
        <p:txBody>
          <a:bodyPr/>
          <a:lstStyle/>
          <a:p>
            <a:fld id="{0BD70068-1927-45F1-B122-DA766E7FCEFF}" type="datetime1">
              <a:rPr lang="en-US" smtClean="0"/>
              <a:t>11/22/2024</a:t>
            </a:fld>
            <a:endParaRPr lang="en-US"/>
          </a:p>
        </p:txBody>
      </p:sp>
      <p:sp>
        <p:nvSpPr>
          <p:cNvPr id="5" name="Footer Placeholder 4">
            <a:extLst>
              <a:ext uri="{FF2B5EF4-FFF2-40B4-BE49-F238E27FC236}">
                <a16:creationId xmlns:a16="http://schemas.microsoft.com/office/drawing/2014/main" id="{25DF4A88-7DA0-8A97-98FE-5BE26177F22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C9EE8BB-B794-3B7C-BEE1-5DD9B75A90EB}"/>
              </a:ext>
            </a:extLst>
          </p:cNvPr>
          <p:cNvSpPr>
            <a:spLocks noGrp="1"/>
          </p:cNvSpPr>
          <p:nvPr>
            <p:ph type="sldNum" sz="quarter" idx="12"/>
          </p:nvPr>
        </p:nvSpPr>
        <p:spPr/>
        <p:txBody>
          <a:bodyPr/>
          <a:lstStyle/>
          <a:p>
            <a:fld id="{2A7E1DE5-02E2-4677-84C1-33488A43A777}" type="slidenum">
              <a:rPr lang="en-US" smtClean="0"/>
              <a:t>‹#›</a:t>
            </a:fld>
            <a:endParaRPr lang="en-US"/>
          </a:p>
        </p:txBody>
      </p:sp>
    </p:spTree>
    <p:extLst>
      <p:ext uri="{BB962C8B-B14F-4D97-AF65-F5344CB8AC3E}">
        <p14:creationId xmlns:p14="http://schemas.microsoft.com/office/powerpoint/2010/main" val="10513383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B7A450-B8C2-C433-5825-5AC0BF16D77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6C06DC5-334A-AFFF-CDFF-37889256F8B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D3FFAF0-F0DC-2087-982F-79783FEC9ADD}"/>
              </a:ext>
            </a:extLst>
          </p:cNvPr>
          <p:cNvSpPr>
            <a:spLocks noGrp="1"/>
          </p:cNvSpPr>
          <p:nvPr>
            <p:ph type="dt" sz="half" idx="10"/>
          </p:nvPr>
        </p:nvSpPr>
        <p:spPr/>
        <p:txBody>
          <a:bodyPr/>
          <a:lstStyle/>
          <a:p>
            <a:fld id="{E069866E-BD1C-45E8-9E3A-1881D28EF78A}" type="datetime1">
              <a:rPr lang="en-US" smtClean="0"/>
              <a:t>11/22/2024</a:t>
            </a:fld>
            <a:endParaRPr lang="en-US"/>
          </a:p>
        </p:txBody>
      </p:sp>
      <p:sp>
        <p:nvSpPr>
          <p:cNvPr id="5" name="Footer Placeholder 4">
            <a:extLst>
              <a:ext uri="{FF2B5EF4-FFF2-40B4-BE49-F238E27FC236}">
                <a16:creationId xmlns:a16="http://schemas.microsoft.com/office/drawing/2014/main" id="{9F8894B1-05B4-E4B2-630B-5B09A3EF085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46F543E-A66F-F937-0EE5-86BA7413C777}"/>
              </a:ext>
            </a:extLst>
          </p:cNvPr>
          <p:cNvSpPr>
            <a:spLocks noGrp="1"/>
          </p:cNvSpPr>
          <p:nvPr>
            <p:ph type="sldNum" sz="quarter" idx="12"/>
          </p:nvPr>
        </p:nvSpPr>
        <p:spPr/>
        <p:txBody>
          <a:bodyPr/>
          <a:lstStyle/>
          <a:p>
            <a:fld id="{2A7E1DE5-02E2-4677-84C1-33488A43A777}" type="slidenum">
              <a:rPr lang="en-US" smtClean="0"/>
              <a:t>‹#›</a:t>
            </a:fld>
            <a:endParaRPr lang="en-US"/>
          </a:p>
        </p:txBody>
      </p:sp>
    </p:spTree>
    <p:extLst>
      <p:ext uri="{BB962C8B-B14F-4D97-AF65-F5344CB8AC3E}">
        <p14:creationId xmlns:p14="http://schemas.microsoft.com/office/powerpoint/2010/main" val="3717119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0612B8-4223-D189-5966-F0948BCF0CC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78A6CE5-2BD7-1C74-4B8A-9AF0CF12807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FE21691-5884-E723-2089-ACD5DEC4AB1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E7AFE53-82DD-EFA2-D288-8E4BA5AFAE8A}"/>
              </a:ext>
            </a:extLst>
          </p:cNvPr>
          <p:cNvSpPr>
            <a:spLocks noGrp="1"/>
          </p:cNvSpPr>
          <p:nvPr>
            <p:ph type="dt" sz="half" idx="10"/>
          </p:nvPr>
        </p:nvSpPr>
        <p:spPr/>
        <p:txBody>
          <a:bodyPr/>
          <a:lstStyle/>
          <a:p>
            <a:fld id="{4DF092C5-9BCD-4657-B347-4FC96752DDE7}" type="datetime1">
              <a:rPr lang="en-US" smtClean="0"/>
              <a:t>11/22/2024</a:t>
            </a:fld>
            <a:endParaRPr lang="en-US"/>
          </a:p>
        </p:txBody>
      </p:sp>
      <p:sp>
        <p:nvSpPr>
          <p:cNvPr id="6" name="Footer Placeholder 5">
            <a:extLst>
              <a:ext uri="{FF2B5EF4-FFF2-40B4-BE49-F238E27FC236}">
                <a16:creationId xmlns:a16="http://schemas.microsoft.com/office/drawing/2014/main" id="{00B56818-1C99-F955-36BB-94A2785A994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603B363-25CA-5683-CD82-D6E751308784}"/>
              </a:ext>
            </a:extLst>
          </p:cNvPr>
          <p:cNvSpPr>
            <a:spLocks noGrp="1"/>
          </p:cNvSpPr>
          <p:nvPr>
            <p:ph type="sldNum" sz="quarter" idx="12"/>
          </p:nvPr>
        </p:nvSpPr>
        <p:spPr/>
        <p:txBody>
          <a:bodyPr/>
          <a:lstStyle/>
          <a:p>
            <a:fld id="{2A7E1DE5-02E2-4677-84C1-33488A43A777}" type="slidenum">
              <a:rPr lang="en-US" smtClean="0"/>
              <a:t>‹#›</a:t>
            </a:fld>
            <a:endParaRPr lang="en-US"/>
          </a:p>
        </p:txBody>
      </p:sp>
    </p:spTree>
    <p:extLst>
      <p:ext uri="{BB962C8B-B14F-4D97-AF65-F5344CB8AC3E}">
        <p14:creationId xmlns:p14="http://schemas.microsoft.com/office/powerpoint/2010/main" val="39016218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B8356A-C422-49E2-BAED-8C1A28EB51A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29769AD-CA80-05DC-FE2B-82BF17DBFC8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E90160E-3AC3-57CA-8386-68C7ED337A7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2A87838-CD53-88CE-1581-E81104A7A7A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5636FF4-7645-7394-CB9F-5AD2A201864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B36E98C-F565-97AC-0189-A838ED4016E7}"/>
              </a:ext>
            </a:extLst>
          </p:cNvPr>
          <p:cNvSpPr>
            <a:spLocks noGrp="1"/>
          </p:cNvSpPr>
          <p:nvPr>
            <p:ph type="dt" sz="half" idx="10"/>
          </p:nvPr>
        </p:nvSpPr>
        <p:spPr/>
        <p:txBody>
          <a:bodyPr/>
          <a:lstStyle/>
          <a:p>
            <a:fld id="{1861B7E8-9A10-4E4F-AA49-5176ADF791BB}" type="datetime1">
              <a:rPr lang="en-US" smtClean="0"/>
              <a:t>11/22/2024</a:t>
            </a:fld>
            <a:endParaRPr lang="en-US"/>
          </a:p>
        </p:txBody>
      </p:sp>
      <p:sp>
        <p:nvSpPr>
          <p:cNvPr id="8" name="Footer Placeholder 7">
            <a:extLst>
              <a:ext uri="{FF2B5EF4-FFF2-40B4-BE49-F238E27FC236}">
                <a16:creationId xmlns:a16="http://schemas.microsoft.com/office/drawing/2014/main" id="{F02F31EE-89F1-1844-5534-DF77DAC57FA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CBD37C7-F8FF-FA20-9B77-DCF8A8C2783E}"/>
              </a:ext>
            </a:extLst>
          </p:cNvPr>
          <p:cNvSpPr>
            <a:spLocks noGrp="1"/>
          </p:cNvSpPr>
          <p:nvPr>
            <p:ph type="sldNum" sz="quarter" idx="12"/>
          </p:nvPr>
        </p:nvSpPr>
        <p:spPr/>
        <p:txBody>
          <a:bodyPr/>
          <a:lstStyle/>
          <a:p>
            <a:fld id="{2A7E1DE5-02E2-4677-84C1-33488A43A777}" type="slidenum">
              <a:rPr lang="en-US" smtClean="0"/>
              <a:t>‹#›</a:t>
            </a:fld>
            <a:endParaRPr lang="en-US"/>
          </a:p>
        </p:txBody>
      </p:sp>
    </p:spTree>
    <p:extLst>
      <p:ext uri="{BB962C8B-B14F-4D97-AF65-F5344CB8AC3E}">
        <p14:creationId xmlns:p14="http://schemas.microsoft.com/office/powerpoint/2010/main" val="711080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0DBDA6-207B-7A3F-EDA9-AEAD8649FFD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1F6C10D-05B9-7448-FDF1-1B777B57E6BE}"/>
              </a:ext>
            </a:extLst>
          </p:cNvPr>
          <p:cNvSpPr>
            <a:spLocks noGrp="1"/>
          </p:cNvSpPr>
          <p:nvPr>
            <p:ph type="dt" sz="half" idx="10"/>
          </p:nvPr>
        </p:nvSpPr>
        <p:spPr/>
        <p:txBody>
          <a:bodyPr/>
          <a:lstStyle/>
          <a:p>
            <a:fld id="{0863E226-C11B-4AA8-A158-099A869621E4}" type="datetime1">
              <a:rPr lang="en-US" smtClean="0"/>
              <a:t>11/22/2024</a:t>
            </a:fld>
            <a:endParaRPr lang="en-US"/>
          </a:p>
        </p:txBody>
      </p:sp>
      <p:sp>
        <p:nvSpPr>
          <p:cNvPr id="4" name="Footer Placeholder 3">
            <a:extLst>
              <a:ext uri="{FF2B5EF4-FFF2-40B4-BE49-F238E27FC236}">
                <a16:creationId xmlns:a16="http://schemas.microsoft.com/office/drawing/2014/main" id="{34A59217-6977-C67B-4218-B5F4E2FB33B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7B57C5F-36FA-7370-B09E-528CA4CA2ED8}"/>
              </a:ext>
            </a:extLst>
          </p:cNvPr>
          <p:cNvSpPr>
            <a:spLocks noGrp="1"/>
          </p:cNvSpPr>
          <p:nvPr>
            <p:ph type="sldNum" sz="quarter" idx="12"/>
          </p:nvPr>
        </p:nvSpPr>
        <p:spPr/>
        <p:txBody>
          <a:bodyPr/>
          <a:lstStyle/>
          <a:p>
            <a:fld id="{2A7E1DE5-02E2-4677-84C1-33488A43A777}" type="slidenum">
              <a:rPr lang="en-US" smtClean="0"/>
              <a:t>‹#›</a:t>
            </a:fld>
            <a:endParaRPr lang="en-US"/>
          </a:p>
        </p:txBody>
      </p:sp>
    </p:spTree>
    <p:extLst>
      <p:ext uri="{BB962C8B-B14F-4D97-AF65-F5344CB8AC3E}">
        <p14:creationId xmlns:p14="http://schemas.microsoft.com/office/powerpoint/2010/main" val="5258403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2309D51-5749-1F97-4880-C2354B37274D}"/>
              </a:ext>
            </a:extLst>
          </p:cNvPr>
          <p:cNvSpPr>
            <a:spLocks noGrp="1"/>
          </p:cNvSpPr>
          <p:nvPr>
            <p:ph type="dt" sz="half" idx="10"/>
          </p:nvPr>
        </p:nvSpPr>
        <p:spPr/>
        <p:txBody>
          <a:bodyPr/>
          <a:lstStyle/>
          <a:p>
            <a:fld id="{D141BB63-A0F9-4A70-8CD4-98896A839C62}" type="datetime1">
              <a:rPr lang="en-US" smtClean="0"/>
              <a:t>11/22/2024</a:t>
            </a:fld>
            <a:endParaRPr lang="en-US"/>
          </a:p>
        </p:txBody>
      </p:sp>
      <p:sp>
        <p:nvSpPr>
          <p:cNvPr id="3" name="Footer Placeholder 2">
            <a:extLst>
              <a:ext uri="{FF2B5EF4-FFF2-40B4-BE49-F238E27FC236}">
                <a16:creationId xmlns:a16="http://schemas.microsoft.com/office/drawing/2014/main" id="{A1C99823-1C07-D9A9-3ED3-414073F03D4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C94A006-577B-3995-4B9C-845E8E279EF9}"/>
              </a:ext>
            </a:extLst>
          </p:cNvPr>
          <p:cNvSpPr>
            <a:spLocks noGrp="1"/>
          </p:cNvSpPr>
          <p:nvPr>
            <p:ph type="sldNum" sz="quarter" idx="12"/>
          </p:nvPr>
        </p:nvSpPr>
        <p:spPr/>
        <p:txBody>
          <a:bodyPr/>
          <a:lstStyle/>
          <a:p>
            <a:fld id="{2A7E1DE5-02E2-4677-84C1-33488A43A777}" type="slidenum">
              <a:rPr lang="en-US" smtClean="0"/>
              <a:t>‹#›</a:t>
            </a:fld>
            <a:endParaRPr lang="en-US"/>
          </a:p>
        </p:txBody>
      </p:sp>
    </p:spTree>
    <p:extLst>
      <p:ext uri="{BB962C8B-B14F-4D97-AF65-F5344CB8AC3E}">
        <p14:creationId xmlns:p14="http://schemas.microsoft.com/office/powerpoint/2010/main" val="1381437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61DD44-639C-1710-2D8A-B8F3B907543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E9062DD-37B3-6C57-079E-8CAF3C96EB3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19B14E1-AA07-8017-5E8F-C8E4E6CBA9B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8B110BF-5093-12E9-EC2D-3D94C9E3F8EE}"/>
              </a:ext>
            </a:extLst>
          </p:cNvPr>
          <p:cNvSpPr>
            <a:spLocks noGrp="1"/>
          </p:cNvSpPr>
          <p:nvPr>
            <p:ph type="dt" sz="half" idx="10"/>
          </p:nvPr>
        </p:nvSpPr>
        <p:spPr/>
        <p:txBody>
          <a:bodyPr/>
          <a:lstStyle/>
          <a:p>
            <a:fld id="{2523FDFE-3B03-42E5-8026-DDC0FABA8DF9}" type="datetime1">
              <a:rPr lang="en-US" smtClean="0"/>
              <a:t>11/22/2024</a:t>
            </a:fld>
            <a:endParaRPr lang="en-US"/>
          </a:p>
        </p:txBody>
      </p:sp>
      <p:sp>
        <p:nvSpPr>
          <p:cNvPr id="6" name="Footer Placeholder 5">
            <a:extLst>
              <a:ext uri="{FF2B5EF4-FFF2-40B4-BE49-F238E27FC236}">
                <a16:creationId xmlns:a16="http://schemas.microsoft.com/office/drawing/2014/main" id="{580304F8-85F9-6BF5-F5CB-54FA00C70CA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A7F0D21-C245-F37D-66D3-0125D72AFF83}"/>
              </a:ext>
            </a:extLst>
          </p:cNvPr>
          <p:cNvSpPr>
            <a:spLocks noGrp="1"/>
          </p:cNvSpPr>
          <p:nvPr>
            <p:ph type="sldNum" sz="quarter" idx="12"/>
          </p:nvPr>
        </p:nvSpPr>
        <p:spPr/>
        <p:txBody>
          <a:bodyPr/>
          <a:lstStyle/>
          <a:p>
            <a:fld id="{2A7E1DE5-02E2-4677-84C1-33488A43A777}" type="slidenum">
              <a:rPr lang="en-US" smtClean="0"/>
              <a:t>‹#›</a:t>
            </a:fld>
            <a:endParaRPr lang="en-US"/>
          </a:p>
        </p:txBody>
      </p:sp>
    </p:spTree>
    <p:extLst>
      <p:ext uri="{BB962C8B-B14F-4D97-AF65-F5344CB8AC3E}">
        <p14:creationId xmlns:p14="http://schemas.microsoft.com/office/powerpoint/2010/main" val="11356680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278C70-E0EC-1545-8E23-04D54AADCAE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1DD8F7C-90D3-D0FF-7AAD-54D43C616A4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2645682-6767-0DFA-33B6-DE243614932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1AB6CB8-A5CD-DE97-DEC1-185EAC70FEC5}"/>
              </a:ext>
            </a:extLst>
          </p:cNvPr>
          <p:cNvSpPr>
            <a:spLocks noGrp="1"/>
          </p:cNvSpPr>
          <p:nvPr>
            <p:ph type="dt" sz="half" idx="10"/>
          </p:nvPr>
        </p:nvSpPr>
        <p:spPr/>
        <p:txBody>
          <a:bodyPr/>
          <a:lstStyle/>
          <a:p>
            <a:fld id="{18DFC0D2-657B-44AD-9447-02AAE4147C20}" type="datetime1">
              <a:rPr lang="en-US" smtClean="0"/>
              <a:t>11/22/2024</a:t>
            </a:fld>
            <a:endParaRPr lang="en-US"/>
          </a:p>
        </p:txBody>
      </p:sp>
      <p:sp>
        <p:nvSpPr>
          <p:cNvPr id="6" name="Footer Placeholder 5">
            <a:extLst>
              <a:ext uri="{FF2B5EF4-FFF2-40B4-BE49-F238E27FC236}">
                <a16:creationId xmlns:a16="http://schemas.microsoft.com/office/drawing/2014/main" id="{9E15DDD3-CEA2-B830-1397-DE9D7F92EB0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18AC0B8-4B7A-41AD-6841-DB0AE5DD45B2}"/>
              </a:ext>
            </a:extLst>
          </p:cNvPr>
          <p:cNvSpPr>
            <a:spLocks noGrp="1"/>
          </p:cNvSpPr>
          <p:nvPr>
            <p:ph type="sldNum" sz="quarter" idx="12"/>
          </p:nvPr>
        </p:nvSpPr>
        <p:spPr/>
        <p:txBody>
          <a:bodyPr/>
          <a:lstStyle/>
          <a:p>
            <a:fld id="{2A7E1DE5-02E2-4677-84C1-33488A43A777}" type="slidenum">
              <a:rPr lang="en-US" smtClean="0"/>
              <a:t>‹#›</a:t>
            </a:fld>
            <a:endParaRPr lang="en-US"/>
          </a:p>
        </p:txBody>
      </p:sp>
    </p:spTree>
    <p:extLst>
      <p:ext uri="{BB962C8B-B14F-4D97-AF65-F5344CB8AC3E}">
        <p14:creationId xmlns:p14="http://schemas.microsoft.com/office/powerpoint/2010/main" val="14850758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D74F63-29C2-E6C5-3350-21360536F70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D63FAF0-D49D-0D65-504B-84BEF603A57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ED006A2-C032-E1ED-B007-D08364FB78DB}"/>
              </a:ext>
            </a:extLst>
          </p:cNvPr>
          <p:cNvSpPr>
            <a:spLocks noGrp="1"/>
          </p:cNvSpPr>
          <p:nvPr>
            <p:ph type="dt" sz="half" idx="10"/>
          </p:nvPr>
        </p:nvSpPr>
        <p:spPr/>
        <p:txBody>
          <a:bodyPr/>
          <a:lstStyle/>
          <a:p>
            <a:fld id="{D889EAC5-9106-48D6-AAFE-13D9D38C135B}" type="datetime1">
              <a:rPr lang="en-US" smtClean="0"/>
              <a:t>11/22/2024</a:t>
            </a:fld>
            <a:endParaRPr lang="en-US"/>
          </a:p>
        </p:txBody>
      </p:sp>
      <p:sp>
        <p:nvSpPr>
          <p:cNvPr id="5" name="Footer Placeholder 4">
            <a:extLst>
              <a:ext uri="{FF2B5EF4-FFF2-40B4-BE49-F238E27FC236}">
                <a16:creationId xmlns:a16="http://schemas.microsoft.com/office/drawing/2014/main" id="{13793360-1E13-398A-F6D8-2EAB5B9E0FE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91FEACB-237C-E3A4-D069-21D2A5523A17}"/>
              </a:ext>
            </a:extLst>
          </p:cNvPr>
          <p:cNvSpPr>
            <a:spLocks noGrp="1"/>
          </p:cNvSpPr>
          <p:nvPr>
            <p:ph type="sldNum" sz="quarter" idx="12"/>
          </p:nvPr>
        </p:nvSpPr>
        <p:spPr/>
        <p:txBody>
          <a:bodyPr/>
          <a:lstStyle/>
          <a:p>
            <a:fld id="{2A7E1DE5-02E2-4677-84C1-33488A43A777}" type="slidenum">
              <a:rPr lang="en-US" smtClean="0"/>
              <a:t>‹#›</a:t>
            </a:fld>
            <a:endParaRPr lang="en-US"/>
          </a:p>
        </p:txBody>
      </p:sp>
    </p:spTree>
    <p:extLst>
      <p:ext uri="{BB962C8B-B14F-4D97-AF65-F5344CB8AC3E}">
        <p14:creationId xmlns:p14="http://schemas.microsoft.com/office/powerpoint/2010/main" val="30745800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8A7F39A-5FF1-5C12-B52A-AC80C16F6F0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D5338F9-8CA4-1F97-5E53-F0462E90FCE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1C75D2C-CAA1-DDB8-9538-6DA50EE48F2B}"/>
              </a:ext>
            </a:extLst>
          </p:cNvPr>
          <p:cNvSpPr>
            <a:spLocks noGrp="1"/>
          </p:cNvSpPr>
          <p:nvPr>
            <p:ph type="dt" sz="half" idx="10"/>
          </p:nvPr>
        </p:nvSpPr>
        <p:spPr/>
        <p:txBody>
          <a:bodyPr/>
          <a:lstStyle/>
          <a:p>
            <a:fld id="{7DEA1B4B-CA5E-472F-942E-90BC71DDA040}" type="datetime1">
              <a:rPr lang="en-US" smtClean="0"/>
              <a:t>11/22/2024</a:t>
            </a:fld>
            <a:endParaRPr lang="en-US"/>
          </a:p>
        </p:txBody>
      </p:sp>
      <p:sp>
        <p:nvSpPr>
          <p:cNvPr id="5" name="Footer Placeholder 4">
            <a:extLst>
              <a:ext uri="{FF2B5EF4-FFF2-40B4-BE49-F238E27FC236}">
                <a16:creationId xmlns:a16="http://schemas.microsoft.com/office/drawing/2014/main" id="{453867DF-1288-D319-8962-48994EE6BF2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D4E893D-6695-EBCC-B4C2-6267A5528727}"/>
              </a:ext>
            </a:extLst>
          </p:cNvPr>
          <p:cNvSpPr>
            <a:spLocks noGrp="1"/>
          </p:cNvSpPr>
          <p:nvPr>
            <p:ph type="sldNum" sz="quarter" idx="12"/>
          </p:nvPr>
        </p:nvSpPr>
        <p:spPr/>
        <p:txBody>
          <a:bodyPr/>
          <a:lstStyle/>
          <a:p>
            <a:fld id="{2A7E1DE5-02E2-4677-84C1-33488A43A777}" type="slidenum">
              <a:rPr lang="en-US" smtClean="0"/>
              <a:t>‹#›</a:t>
            </a:fld>
            <a:endParaRPr lang="en-US"/>
          </a:p>
        </p:txBody>
      </p:sp>
    </p:spTree>
    <p:extLst>
      <p:ext uri="{BB962C8B-B14F-4D97-AF65-F5344CB8AC3E}">
        <p14:creationId xmlns:p14="http://schemas.microsoft.com/office/powerpoint/2010/main" val="33541803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FBB10A2-05D7-23BB-DF5A-83E025A739B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4223D65-275A-0456-DFB9-6A0F64D867A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DB920E9-9846-3467-6149-BE8A5A46E8A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3B0EB75-9D4A-43D9-AD3E-0B608A85B34E}" type="datetime1">
              <a:rPr lang="en-US" smtClean="0"/>
              <a:t>11/22/2024</a:t>
            </a:fld>
            <a:endParaRPr lang="en-US"/>
          </a:p>
        </p:txBody>
      </p:sp>
      <p:sp>
        <p:nvSpPr>
          <p:cNvPr id="5" name="Footer Placeholder 4">
            <a:extLst>
              <a:ext uri="{FF2B5EF4-FFF2-40B4-BE49-F238E27FC236}">
                <a16:creationId xmlns:a16="http://schemas.microsoft.com/office/drawing/2014/main" id="{3F5F7DBA-EA9E-A63F-A8CA-6F7A1C0177C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418B373-AF9B-2E61-D068-DCE9C5C2602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A7E1DE5-02E2-4677-84C1-33488A43A777}" type="slidenum">
              <a:rPr lang="en-US" smtClean="0"/>
              <a:t>‹#›</a:t>
            </a:fld>
            <a:endParaRPr lang="en-US"/>
          </a:p>
        </p:txBody>
      </p:sp>
    </p:spTree>
    <p:extLst>
      <p:ext uri="{BB962C8B-B14F-4D97-AF65-F5344CB8AC3E}">
        <p14:creationId xmlns:p14="http://schemas.microsoft.com/office/powerpoint/2010/main" val="116043474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865634-25F0-1F68-63A7-0AD301697FBB}"/>
              </a:ext>
            </a:extLst>
          </p:cNvPr>
          <p:cNvSpPr>
            <a:spLocks noGrp="1"/>
          </p:cNvSpPr>
          <p:nvPr>
            <p:ph type="ctrTitle"/>
          </p:nvPr>
        </p:nvSpPr>
        <p:spPr/>
        <p:txBody>
          <a:bodyPr/>
          <a:lstStyle/>
          <a:p>
            <a:r>
              <a:rPr lang="en-US" dirty="0"/>
              <a:t>CubeSat CDR Format</a:t>
            </a:r>
          </a:p>
        </p:txBody>
      </p:sp>
      <p:sp>
        <p:nvSpPr>
          <p:cNvPr id="3" name="Subtitle 2">
            <a:extLst>
              <a:ext uri="{FF2B5EF4-FFF2-40B4-BE49-F238E27FC236}">
                <a16:creationId xmlns:a16="http://schemas.microsoft.com/office/drawing/2014/main" id="{B67208F0-AC04-FDD0-CCE6-98FCD37EEAD5}"/>
              </a:ext>
            </a:extLst>
          </p:cNvPr>
          <p:cNvSpPr>
            <a:spLocks noGrp="1"/>
          </p:cNvSpPr>
          <p:nvPr>
            <p:ph type="subTitle" idx="1"/>
          </p:nvPr>
        </p:nvSpPr>
        <p:spPr/>
        <p:txBody>
          <a:bodyPr/>
          <a:lstStyle/>
          <a:p>
            <a:r>
              <a:rPr lang="en-US" dirty="0"/>
              <a:t>November 22, 2024</a:t>
            </a:r>
          </a:p>
        </p:txBody>
      </p:sp>
    </p:spTree>
    <p:extLst>
      <p:ext uri="{BB962C8B-B14F-4D97-AF65-F5344CB8AC3E}">
        <p14:creationId xmlns:p14="http://schemas.microsoft.com/office/powerpoint/2010/main" val="24586017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945A8C-429D-0B94-3128-32F663375EFB}"/>
              </a:ext>
            </a:extLst>
          </p:cNvPr>
          <p:cNvSpPr>
            <a:spLocks noGrp="1"/>
          </p:cNvSpPr>
          <p:nvPr>
            <p:ph type="title"/>
          </p:nvPr>
        </p:nvSpPr>
        <p:spPr/>
        <p:txBody>
          <a:bodyPr/>
          <a:lstStyle/>
          <a:p>
            <a:r>
              <a:rPr lang="en-US" dirty="0"/>
              <a:t>CDR Charts</a:t>
            </a:r>
          </a:p>
        </p:txBody>
      </p:sp>
      <p:sp>
        <p:nvSpPr>
          <p:cNvPr id="3" name="Content Placeholder 2">
            <a:extLst>
              <a:ext uri="{FF2B5EF4-FFF2-40B4-BE49-F238E27FC236}">
                <a16:creationId xmlns:a16="http://schemas.microsoft.com/office/drawing/2014/main" id="{12DD0183-2C7D-5A59-4E20-25B6309F0BA8}"/>
              </a:ext>
            </a:extLst>
          </p:cNvPr>
          <p:cNvSpPr>
            <a:spLocks noGrp="1"/>
          </p:cNvSpPr>
          <p:nvPr>
            <p:ph idx="1"/>
          </p:nvPr>
        </p:nvSpPr>
        <p:spPr/>
        <p:txBody>
          <a:bodyPr>
            <a:normAutofit fontScale="85000" lnSpcReduction="20000"/>
          </a:bodyPr>
          <a:lstStyle/>
          <a:p>
            <a:r>
              <a:rPr lang="en-US" dirty="0">
                <a:highlight>
                  <a:srgbClr val="FFFF00"/>
                </a:highlight>
              </a:rPr>
              <a:t>Purpose of CDR is to certify the final design meets all design criteria and to get approval to release drawings to start ordering parts and material</a:t>
            </a:r>
          </a:p>
          <a:p>
            <a:r>
              <a:rPr lang="en-US" dirty="0"/>
              <a:t>Always put chart number on all charts</a:t>
            </a:r>
          </a:p>
          <a:p>
            <a:r>
              <a:rPr lang="en-US" dirty="0"/>
              <a:t>Create a chart the clearly identifies all the design requirements and how your design meets each requirement in a table format</a:t>
            </a:r>
          </a:p>
          <a:p>
            <a:pPr lvl="1"/>
            <a:r>
              <a:rPr lang="en-US" dirty="0"/>
              <a:t>Column one: design requirement</a:t>
            </a:r>
          </a:p>
          <a:p>
            <a:pPr lvl="1"/>
            <a:r>
              <a:rPr lang="en-US" dirty="0"/>
              <a:t>Column two: how design requirement is satisfied</a:t>
            </a:r>
          </a:p>
          <a:p>
            <a:r>
              <a:rPr lang="en-US" dirty="0"/>
              <a:t>Clearly indicate all final design details, both mechanically and electrically</a:t>
            </a:r>
          </a:p>
          <a:p>
            <a:r>
              <a:rPr lang="en-US" dirty="0"/>
              <a:t>Final design should be in Onshape</a:t>
            </a:r>
          </a:p>
          <a:p>
            <a:r>
              <a:rPr lang="en-US" dirty="0"/>
              <a:t>Create a chart that shows that shows the full completed final design Onshape assembly</a:t>
            </a:r>
          </a:p>
          <a:p>
            <a:pPr lvl="1"/>
            <a:r>
              <a:rPr lang="en-US" dirty="0"/>
              <a:t>Then clearly identify all parts of your subassembly, by pointing to each part or show in an exploded view</a:t>
            </a:r>
          </a:p>
        </p:txBody>
      </p:sp>
      <p:sp>
        <p:nvSpPr>
          <p:cNvPr id="4" name="Slide Number Placeholder 3">
            <a:extLst>
              <a:ext uri="{FF2B5EF4-FFF2-40B4-BE49-F238E27FC236}">
                <a16:creationId xmlns:a16="http://schemas.microsoft.com/office/drawing/2014/main" id="{518395BB-455F-5CA0-A8AC-B611C0C0C709}"/>
              </a:ext>
            </a:extLst>
          </p:cNvPr>
          <p:cNvSpPr>
            <a:spLocks noGrp="1"/>
          </p:cNvSpPr>
          <p:nvPr>
            <p:ph type="sldNum" sz="quarter" idx="12"/>
          </p:nvPr>
        </p:nvSpPr>
        <p:spPr/>
        <p:txBody>
          <a:bodyPr/>
          <a:lstStyle/>
          <a:p>
            <a:fld id="{2A7E1DE5-02E2-4677-84C1-33488A43A777}" type="slidenum">
              <a:rPr lang="en-US" smtClean="0"/>
              <a:t>2</a:t>
            </a:fld>
            <a:endParaRPr lang="en-US"/>
          </a:p>
        </p:txBody>
      </p:sp>
      <p:sp>
        <p:nvSpPr>
          <p:cNvPr id="5" name="TextBox 4">
            <a:extLst>
              <a:ext uri="{FF2B5EF4-FFF2-40B4-BE49-F238E27FC236}">
                <a16:creationId xmlns:a16="http://schemas.microsoft.com/office/drawing/2014/main" id="{9B06A97E-4A4B-08D7-65C5-F1B849806F6A}"/>
              </a:ext>
            </a:extLst>
          </p:cNvPr>
          <p:cNvSpPr txBox="1"/>
          <p:nvPr/>
        </p:nvSpPr>
        <p:spPr>
          <a:xfrm>
            <a:off x="9247598" y="6356350"/>
            <a:ext cx="1827944" cy="369332"/>
          </a:xfrm>
          <a:prstGeom prst="rect">
            <a:avLst/>
          </a:prstGeom>
          <a:noFill/>
        </p:spPr>
        <p:txBody>
          <a:bodyPr wrap="square" rtlCol="0">
            <a:spAutoFit/>
          </a:bodyPr>
          <a:lstStyle/>
          <a:p>
            <a:r>
              <a:rPr lang="en-US" dirty="0"/>
              <a:t>Chart number  </a:t>
            </a:r>
            <a:r>
              <a:rPr lang="en-US" dirty="0">
                <a:sym typeface="Wingdings" panose="05000000000000000000" pitchFamily="2" charset="2"/>
              </a:rPr>
              <a:t></a:t>
            </a:r>
            <a:endParaRPr lang="en-US" dirty="0"/>
          </a:p>
        </p:txBody>
      </p:sp>
    </p:spTree>
    <p:extLst>
      <p:ext uri="{BB962C8B-B14F-4D97-AF65-F5344CB8AC3E}">
        <p14:creationId xmlns:p14="http://schemas.microsoft.com/office/powerpoint/2010/main" val="20056001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1D8C0E-1D76-EBCA-5723-BFF090A4CB07}"/>
              </a:ext>
            </a:extLst>
          </p:cNvPr>
          <p:cNvSpPr>
            <a:spLocks noGrp="1"/>
          </p:cNvSpPr>
          <p:nvPr>
            <p:ph type="title"/>
          </p:nvPr>
        </p:nvSpPr>
        <p:spPr/>
        <p:txBody>
          <a:bodyPr/>
          <a:lstStyle/>
          <a:p>
            <a:r>
              <a:rPr lang="en-US" dirty="0"/>
              <a:t>CDR Charts </a:t>
            </a:r>
          </a:p>
        </p:txBody>
      </p:sp>
      <p:sp>
        <p:nvSpPr>
          <p:cNvPr id="3" name="Content Placeholder 2">
            <a:extLst>
              <a:ext uri="{FF2B5EF4-FFF2-40B4-BE49-F238E27FC236}">
                <a16:creationId xmlns:a16="http://schemas.microsoft.com/office/drawing/2014/main" id="{E671DD6C-DEBF-5940-6D72-17283C84A1FB}"/>
              </a:ext>
            </a:extLst>
          </p:cNvPr>
          <p:cNvSpPr>
            <a:spLocks noGrp="1"/>
          </p:cNvSpPr>
          <p:nvPr>
            <p:ph idx="1"/>
          </p:nvPr>
        </p:nvSpPr>
        <p:spPr>
          <a:xfrm>
            <a:off x="838200" y="1825625"/>
            <a:ext cx="10515600" cy="4667250"/>
          </a:xfrm>
        </p:spPr>
        <p:txBody>
          <a:bodyPr>
            <a:normAutofit fontScale="92500" lnSpcReduction="20000"/>
          </a:bodyPr>
          <a:lstStyle/>
          <a:p>
            <a:r>
              <a:rPr lang="en-US" dirty="0"/>
              <a:t>Create a chart showing clearly how your subassembly is assembled</a:t>
            </a:r>
          </a:p>
          <a:p>
            <a:pPr lvl="1"/>
            <a:r>
              <a:rPr lang="en-US" dirty="0"/>
              <a:t>Clearly indicate how the subassembly is attached both mechanically and electronically</a:t>
            </a:r>
          </a:p>
          <a:p>
            <a:pPr lvl="1"/>
            <a:r>
              <a:rPr lang="en-US" dirty="0"/>
              <a:t>Indicate any welds and the number and size of all bolts</a:t>
            </a:r>
          </a:p>
          <a:p>
            <a:pPr lvl="1"/>
            <a:r>
              <a:rPr lang="en-US" dirty="0"/>
              <a:t>If have heater clearly indicate the heater that will be used and how it will be attached mechanically and electrically. Indicate heater voltage, current, and power.</a:t>
            </a:r>
          </a:p>
          <a:p>
            <a:r>
              <a:rPr lang="en-US" dirty="0"/>
              <a:t>Create a chart that shows how boards can be replaced by </a:t>
            </a:r>
            <a:r>
              <a:rPr lang="en-US" dirty="0" err="1"/>
              <a:t>disasassembling</a:t>
            </a:r>
            <a:endParaRPr lang="en-US" dirty="0"/>
          </a:p>
          <a:p>
            <a:r>
              <a:rPr lang="en-US" dirty="0"/>
              <a:t>Create a chart that has a table listing your bill of materials for your all parts of your assembly, including every electronic component, heater, etc.</a:t>
            </a:r>
          </a:p>
          <a:p>
            <a:pPr lvl="1"/>
            <a:r>
              <a:rPr lang="en-US" dirty="0"/>
              <a:t>Make sure you know who will order bolts, heaters – your team or structure team</a:t>
            </a:r>
          </a:p>
          <a:p>
            <a:pPr lvl="1"/>
            <a:r>
              <a:rPr lang="en-US" dirty="0"/>
              <a:t>Make sure you clearly indicate how many of each part will be procured</a:t>
            </a:r>
          </a:p>
          <a:p>
            <a:pPr lvl="1"/>
            <a:r>
              <a:rPr lang="en-US" dirty="0"/>
              <a:t>For example, will your assembly be tested as a subassembly to verify thermal and vibration margins to reduce wear on flight assembly? Then need to do test on prototype hardware</a:t>
            </a:r>
          </a:p>
          <a:p>
            <a:pPr lvl="2"/>
            <a:r>
              <a:rPr lang="en-US" dirty="0"/>
              <a:t>Probably want to do this with attitude control system, at a minimum</a:t>
            </a:r>
          </a:p>
        </p:txBody>
      </p:sp>
      <p:sp>
        <p:nvSpPr>
          <p:cNvPr id="4" name="Slide Number Placeholder 3">
            <a:extLst>
              <a:ext uri="{FF2B5EF4-FFF2-40B4-BE49-F238E27FC236}">
                <a16:creationId xmlns:a16="http://schemas.microsoft.com/office/drawing/2014/main" id="{084420E1-BB1A-BA8D-30C1-1619EF0F2FA2}"/>
              </a:ext>
            </a:extLst>
          </p:cNvPr>
          <p:cNvSpPr>
            <a:spLocks noGrp="1"/>
          </p:cNvSpPr>
          <p:nvPr>
            <p:ph type="sldNum" sz="quarter" idx="12"/>
          </p:nvPr>
        </p:nvSpPr>
        <p:spPr/>
        <p:txBody>
          <a:bodyPr/>
          <a:lstStyle/>
          <a:p>
            <a:fld id="{2A7E1DE5-02E2-4677-84C1-33488A43A777}" type="slidenum">
              <a:rPr lang="en-US" smtClean="0"/>
              <a:t>3</a:t>
            </a:fld>
            <a:endParaRPr lang="en-US"/>
          </a:p>
        </p:txBody>
      </p:sp>
    </p:spTree>
    <p:extLst>
      <p:ext uri="{BB962C8B-B14F-4D97-AF65-F5344CB8AC3E}">
        <p14:creationId xmlns:p14="http://schemas.microsoft.com/office/powerpoint/2010/main" val="14433446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BAF875-E3FB-6004-D7B7-F1216F9A22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98663D-760E-29DA-B6B7-D4F1A255BA8D}"/>
              </a:ext>
            </a:extLst>
          </p:cNvPr>
          <p:cNvSpPr>
            <a:spLocks noGrp="1"/>
          </p:cNvSpPr>
          <p:nvPr>
            <p:ph type="title"/>
          </p:nvPr>
        </p:nvSpPr>
        <p:spPr/>
        <p:txBody>
          <a:bodyPr/>
          <a:lstStyle/>
          <a:p>
            <a:r>
              <a:rPr lang="en-US" dirty="0"/>
              <a:t>CDR Charts </a:t>
            </a:r>
          </a:p>
        </p:txBody>
      </p:sp>
      <p:sp>
        <p:nvSpPr>
          <p:cNvPr id="3" name="Content Placeholder 2">
            <a:extLst>
              <a:ext uri="{FF2B5EF4-FFF2-40B4-BE49-F238E27FC236}">
                <a16:creationId xmlns:a16="http://schemas.microsoft.com/office/drawing/2014/main" id="{53EA17C2-BF98-674B-AB17-B6F1B889D3EC}"/>
              </a:ext>
            </a:extLst>
          </p:cNvPr>
          <p:cNvSpPr>
            <a:spLocks noGrp="1"/>
          </p:cNvSpPr>
          <p:nvPr>
            <p:ph idx="1"/>
          </p:nvPr>
        </p:nvSpPr>
        <p:spPr>
          <a:xfrm>
            <a:off x="838200" y="1825625"/>
            <a:ext cx="10515600" cy="4667250"/>
          </a:xfrm>
        </p:spPr>
        <p:txBody>
          <a:bodyPr>
            <a:normAutofit/>
          </a:bodyPr>
          <a:lstStyle/>
          <a:p>
            <a:r>
              <a:rPr lang="en-US" dirty="0"/>
              <a:t>Clearly show each electronic board with all the all the components and how those components are attached to the board</a:t>
            </a:r>
          </a:p>
          <a:p>
            <a:pPr lvl="1"/>
            <a:r>
              <a:rPr lang="en-US" dirty="0"/>
              <a:t>Clearly show how the board is attached mechanically and electrically</a:t>
            </a:r>
          </a:p>
          <a:p>
            <a:pPr lvl="1"/>
            <a:r>
              <a:rPr lang="en-US" dirty="0"/>
              <a:t>Clearly indicate the type of connector (how many pins) and how the connector is mechanically attached</a:t>
            </a:r>
          </a:p>
          <a:p>
            <a:r>
              <a:rPr lang="en-US" dirty="0"/>
              <a:t>Create a table for each board that shows each electronic component spec sheet values for power, voltage, current, temperature allowables vs CubeSat orbit maximum power, voltage, current, and temperatures</a:t>
            </a:r>
          </a:p>
          <a:p>
            <a:pPr lvl="1"/>
            <a:r>
              <a:rPr lang="en-US" dirty="0"/>
              <a:t>Need to clearly demonstrate derating margin</a:t>
            </a:r>
          </a:p>
          <a:p>
            <a:pPr lvl="1"/>
            <a:r>
              <a:rPr lang="en-US" dirty="0"/>
              <a:t>Table will show for each component, the type of component, the allowables, and the operational values</a:t>
            </a:r>
          </a:p>
        </p:txBody>
      </p:sp>
      <p:sp>
        <p:nvSpPr>
          <p:cNvPr id="4" name="Slide Number Placeholder 3">
            <a:extLst>
              <a:ext uri="{FF2B5EF4-FFF2-40B4-BE49-F238E27FC236}">
                <a16:creationId xmlns:a16="http://schemas.microsoft.com/office/drawing/2014/main" id="{29B873F9-8129-E752-A718-3F6C77945A36}"/>
              </a:ext>
            </a:extLst>
          </p:cNvPr>
          <p:cNvSpPr>
            <a:spLocks noGrp="1"/>
          </p:cNvSpPr>
          <p:nvPr>
            <p:ph type="sldNum" sz="quarter" idx="12"/>
          </p:nvPr>
        </p:nvSpPr>
        <p:spPr/>
        <p:txBody>
          <a:bodyPr/>
          <a:lstStyle/>
          <a:p>
            <a:fld id="{2A7E1DE5-02E2-4677-84C1-33488A43A777}" type="slidenum">
              <a:rPr lang="en-US" smtClean="0"/>
              <a:t>4</a:t>
            </a:fld>
            <a:endParaRPr lang="en-US"/>
          </a:p>
        </p:txBody>
      </p:sp>
    </p:spTree>
    <p:extLst>
      <p:ext uri="{BB962C8B-B14F-4D97-AF65-F5344CB8AC3E}">
        <p14:creationId xmlns:p14="http://schemas.microsoft.com/office/powerpoint/2010/main" val="29778054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F155CF-A4ED-382C-8E8E-9796690F39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0C637F-9EE4-F55F-A5D7-1F92656DEA53}"/>
              </a:ext>
            </a:extLst>
          </p:cNvPr>
          <p:cNvSpPr>
            <a:spLocks noGrp="1"/>
          </p:cNvSpPr>
          <p:nvPr>
            <p:ph type="title"/>
          </p:nvPr>
        </p:nvSpPr>
        <p:spPr/>
        <p:txBody>
          <a:bodyPr/>
          <a:lstStyle/>
          <a:p>
            <a:r>
              <a:rPr lang="en-US" dirty="0"/>
              <a:t>CDR Charts </a:t>
            </a:r>
          </a:p>
        </p:txBody>
      </p:sp>
      <p:sp>
        <p:nvSpPr>
          <p:cNvPr id="3" name="Content Placeholder 2">
            <a:extLst>
              <a:ext uri="{FF2B5EF4-FFF2-40B4-BE49-F238E27FC236}">
                <a16:creationId xmlns:a16="http://schemas.microsoft.com/office/drawing/2014/main" id="{186BF2AD-8ACC-78EC-18AD-956069CA750C}"/>
              </a:ext>
            </a:extLst>
          </p:cNvPr>
          <p:cNvSpPr>
            <a:spLocks noGrp="1"/>
          </p:cNvSpPr>
          <p:nvPr>
            <p:ph idx="1"/>
          </p:nvPr>
        </p:nvSpPr>
        <p:spPr>
          <a:xfrm>
            <a:off x="838200" y="1825625"/>
            <a:ext cx="10515600" cy="4667250"/>
          </a:xfrm>
        </p:spPr>
        <p:txBody>
          <a:bodyPr>
            <a:normAutofit lnSpcReduction="10000"/>
          </a:bodyPr>
          <a:lstStyle/>
          <a:p>
            <a:r>
              <a:rPr lang="en-US" dirty="0"/>
              <a:t>Clearly indicate the total weight of each subassembly</a:t>
            </a:r>
          </a:p>
          <a:p>
            <a:r>
              <a:rPr lang="en-US" dirty="0"/>
              <a:t>Create a software chart indicating how the software for your subsystem will work</a:t>
            </a:r>
          </a:p>
          <a:p>
            <a:pPr lvl="1"/>
            <a:r>
              <a:rPr lang="en-US" dirty="0"/>
              <a:t>Clearly indicate the software that comes with your subsystem and the software that will be needed to interface with your subsystem</a:t>
            </a:r>
          </a:p>
          <a:p>
            <a:pPr lvl="1"/>
            <a:r>
              <a:rPr lang="en-US" dirty="0"/>
              <a:t>Clearly indicate expected lines of code, the software that will be used, and who will write the code</a:t>
            </a:r>
          </a:p>
          <a:p>
            <a:r>
              <a:rPr lang="en-US" dirty="0"/>
              <a:t>Create charts that clearly indicate the type of testing that you expect to perform on each subsystem to verify subsystem performance meets subsystem design criteria</a:t>
            </a:r>
          </a:p>
          <a:p>
            <a:pPr lvl="1"/>
            <a:r>
              <a:rPr lang="en-US" dirty="0"/>
              <a:t>Indicate any test equipment that will be needed and the cost of the test equipment</a:t>
            </a:r>
          </a:p>
        </p:txBody>
      </p:sp>
      <p:sp>
        <p:nvSpPr>
          <p:cNvPr id="4" name="Slide Number Placeholder 3">
            <a:extLst>
              <a:ext uri="{FF2B5EF4-FFF2-40B4-BE49-F238E27FC236}">
                <a16:creationId xmlns:a16="http://schemas.microsoft.com/office/drawing/2014/main" id="{EF8C713B-B727-85F4-5ED4-49EC96FE11C7}"/>
              </a:ext>
            </a:extLst>
          </p:cNvPr>
          <p:cNvSpPr>
            <a:spLocks noGrp="1"/>
          </p:cNvSpPr>
          <p:nvPr>
            <p:ph type="sldNum" sz="quarter" idx="12"/>
          </p:nvPr>
        </p:nvSpPr>
        <p:spPr/>
        <p:txBody>
          <a:bodyPr/>
          <a:lstStyle/>
          <a:p>
            <a:fld id="{2A7E1DE5-02E2-4677-84C1-33488A43A777}" type="slidenum">
              <a:rPr lang="en-US" smtClean="0"/>
              <a:t>5</a:t>
            </a:fld>
            <a:endParaRPr lang="en-US"/>
          </a:p>
        </p:txBody>
      </p:sp>
    </p:spTree>
    <p:extLst>
      <p:ext uri="{BB962C8B-B14F-4D97-AF65-F5344CB8AC3E}">
        <p14:creationId xmlns:p14="http://schemas.microsoft.com/office/powerpoint/2010/main" val="20758552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2068F3-10BE-2F14-2FFA-7E1434E072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A8F408-7CB4-F5AC-8178-21F510B238EE}"/>
              </a:ext>
            </a:extLst>
          </p:cNvPr>
          <p:cNvSpPr>
            <a:spLocks noGrp="1"/>
          </p:cNvSpPr>
          <p:nvPr>
            <p:ph type="title"/>
          </p:nvPr>
        </p:nvSpPr>
        <p:spPr/>
        <p:txBody>
          <a:bodyPr/>
          <a:lstStyle/>
          <a:p>
            <a:r>
              <a:rPr lang="en-US" dirty="0"/>
              <a:t>CDR Charts </a:t>
            </a:r>
          </a:p>
        </p:txBody>
      </p:sp>
      <p:sp>
        <p:nvSpPr>
          <p:cNvPr id="3" name="Content Placeholder 2">
            <a:extLst>
              <a:ext uri="{FF2B5EF4-FFF2-40B4-BE49-F238E27FC236}">
                <a16:creationId xmlns:a16="http://schemas.microsoft.com/office/drawing/2014/main" id="{AFEDA2C0-4563-4372-91C7-7B7F19DF0C9C}"/>
              </a:ext>
            </a:extLst>
          </p:cNvPr>
          <p:cNvSpPr>
            <a:spLocks noGrp="1"/>
          </p:cNvSpPr>
          <p:nvPr>
            <p:ph idx="1"/>
          </p:nvPr>
        </p:nvSpPr>
        <p:spPr>
          <a:xfrm>
            <a:off x="838200" y="1825625"/>
            <a:ext cx="10515600" cy="4667250"/>
          </a:xfrm>
        </p:spPr>
        <p:txBody>
          <a:bodyPr>
            <a:normAutofit/>
          </a:bodyPr>
          <a:lstStyle/>
          <a:p>
            <a:r>
              <a:rPr lang="en-US" dirty="0"/>
              <a:t>Create a chart that indicates tooling needed and the cost of tooling</a:t>
            </a:r>
          </a:p>
          <a:p>
            <a:r>
              <a:rPr lang="en-US" dirty="0"/>
              <a:t>Show Gannt chart with one week as time increment and when scroll down make sure that the weeks are still shown on the top and the tasks are still shown on the left side</a:t>
            </a:r>
          </a:p>
          <a:p>
            <a:pPr lvl="1"/>
            <a:r>
              <a:rPr lang="en-US" dirty="0"/>
              <a:t>Clearly show the entire schedule to completion, including such significant milestones as assembly, test readiness review, tests, integration into CubeSat, software completion</a:t>
            </a:r>
          </a:p>
          <a:p>
            <a:pPr lvl="1"/>
            <a:r>
              <a:rPr lang="en-US" dirty="0"/>
              <a:t>Clearly indicate the critical path (which will be software completion and verification for communications, command, and controls subsystems)</a:t>
            </a:r>
          </a:p>
          <a:p>
            <a:r>
              <a:rPr lang="en-US" dirty="0"/>
              <a:t>Clearly indicate the cost of each subsystem</a:t>
            </a:r>
          </a:p>
        </p:txBody>
      </p:sp>
      <p:sp>
        <p:nvSpPr>
          <p:cNvPr id="4" name="Slide Number Placeholder 3">
            <a:extLst>
              <a:ext uri="{FF2B5EF4-FFF2-40B4-BE49-F238E27FC236}">
                <a16:creationId xmlns:a16="http://schemas.microsoft.com/office/drawing/2014/main" id="{EC8CBE78-D8D8-0341-E657-2739EC0EC4D6}"/>
              </a:ext>
            </a:extLst>
          </p:cNvPr>
          <p:cNvSpPr>
            <a:spLocks noGrp="1"/>
          </p:cNvSpPr>
          <p:nvPr>
            <p:ph type="sldNum" sz="quarter" idx="12"/>
          </p:nvPr>
        </p:nvSpPr>
        <p:spPr/>
        <p:txBody>
          <a:bodyPr/>
          <a:lstStyle/>
          <a:p>
            <a:fld id="{2A7E1DE5-02E2-4677-84C1-33488A43A777}" type="slidenum">
              <a:rPr lang="en-US" smtClean="0"/>
              <a:t>6</a:t>
            </a:fld>
            <a:endParaRPr lang="en-US"/>
          </a:p>
        </p:txBody>
      </p:sp>
    </p:spTree>
    <p:extLst>
      <p:ext uri="{BB962C8B-B14F-4D97-AF65-F5344CB8AC3E}">
        <p14:creationId xmlns:p14="http://schemas.microsoft.com/office/powerpoint/2010/main" val="19230662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FD92A3-1445-F3A7-D923-2E3412C772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9D1B6C-A31F-B5B5-05F5-52DB1DDB4B18}"/>
              </a:ext>
            </a:extLst>
          </p:cNvPr>
          <p:cNvSpPr>
            <a:spLocks noGrp="1"/>
          </p:cNvSpPr>
          <p:nvPr>
            <p:ph type="title"/>
          </p:nvPr>
        </p:nvSpPr>
        <p:spPr/>
        <p:txBody>
          <a:bodyPr>
            <a:normAutofit/>
          </a:bodyPr>
          <a:lstStyle/>
          <a:p>
            <a:r>
              <a:rPr lang="en-US" dirty="0"/>
              <a:t>CDR Charts </a:t>
            </a:r>
            <a:br>
              <a:rPr lang="en-US" dirty="0"/>
            </a:br>
            <a:r>
              <a:rPr lang="en-US" dirty="0"/>
              <a:t>For Structures group</a:t>
            </a:r>
          </a:p>
        </p:txBody>
      </p:sp>
      <p:sp>
        <p:nvSpPr>
          <p:cNvPr id="3" name="Content Placeholder 2">
            <a:extLst>
              <a:ext uri="{FF2B5EF4-FFF2-40B4-BE49-F238E27FC236}">
                <a16:creationId xmlns:a16="http://schemas.microsoft.com/office/drawing/2014/main" id="{9310D201-CC3D-5C96-10F9-5C457B69E179}"/>
              </a:ext>
            </a:extLst>
          </p:cNvPr>
          <p:cNvSpPr>
            <a:spLocks noGrp="1"/>
          </p:cNvSpPr>
          <p:nvPr>
            <p:ph idx="1"/>
          </p:nvPr>
        </p:nvSpPr>
        <p:spPr>
          <a:xfrm>
            <a:off x="838200" y="1825625"/>
            <a:ext cx="10515600" cy="4667250"/>
          </a:xfrm>
        </p:spPr>
        <p:txBody>
          <a:bodyPr>
            <a:normAutofit/>
          </a:bodyPr>
          <a:lstStyle/>
          <a:p>
            <a:r>
              <a:rPr lang="en-US" dirty="0"/>
              <a:t>Indicate expected strength margins for as many parts as possible for random vibration loads in a table</a:t>
            </a:r>
          </a:p>
          <a:p>
            <a:pPr lvl="1"/>
            <a:r>
              <a:rPr lang="en-US" dirty="0"/>
              <a:t>Table should show part, material strengths, peak 3 sigma stress, and margin of safety using yield and ultimate strengths</a:t>
            </a:r>
          </a:p>
          <a:p>
            <a:r>
              <a:rPr lang="en-US" dirty="0"/>
              <a:t>Clearly identify loads, and boundary conditions used in analysis</a:t>
            </a:r>
          </a:p>
          <a:p>
            <a:r>
              <a:rPr lang="en-US" dirty="0"/>
              <a:t>Identify all materials and their properties</a:t>
            </a:r>
          </a:p>
          <a:p>
            <a:r>
              <a:rPr lang="en-US" dirty="0"/>
              <a:t>For thermal indicate the type of surfaces, insulation, and heaters that keep all subsystems within their allowable temperature ranges</a:t>
            </a:r>
          </a:p>
          <a:p>
            <a:pPr lvl="1"/>
            <a:r>
              <a:rPr lang="en-US" dirty="0"/>
              <a:t>Create a table that identifies for all significant parts/assemblies the allowable temperature ranges in one column and the expected min/max temperature in the next column</a:t>
            </a:r>
          </a:p>
        </p:txBody>
      </p:sp>
      <p:sp>
        <p:nvSpPr>
          <p:cNvPr id="4" name="Slide Number Placeholder 3">
            <a:extLst>
              <a:ext uri="{FF2B5EF4-FFF2-40B4-BE49-F238E27FC236}">
                <a16:creationId xmlns:a16="http://schemas.microsoft.com/office/drawing/2014/main" id="{D291D7AD-1E6E-AADF-7F1D-D73167E75830}"/>
              </a:ext>
            </a:extLst>
          </p:cNvPr>
          <p:cNvSpPr>
            <a:spLocks noGrp="1"/>
          </p:cNvSpPr>
          <p:nvPr>
            <p:ph type="sldNum" sz="quarter" idx="12"/>
          </p:nvPr>
        </p:nvSpPr>
        <p:spPr/>
        <p:txBody>
          <a:bodyPr/>
          <a:lstStyle/>
          <a:p>
            <a:fld id="{2A7E1DE5-02E2-4677-84C1-33488A43A777}" type="slidenum">
              <a:rPr lang="en-US" smtClean="0"/>
              <a:t>7</a:t>
            </a:fld>
            <a:endParaRPr lang="en-US"/>
          </a:p>
        </p:txBody>
      </p:sp>
    </p:spTree>
    <p:extLst>
      <p:ext uri="{BB962C8B-B14F-4D97-AF65-F5344CB8AC3E}">
        <p14:creationId xmlns:p14="http://schemas.microsoft.com/office/powerpoint/2010/main" val="9672937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9ABBBB-0591-196A-B09F-A506CB060F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ABF908-CB5F-4FCC-8236-B02A4272CDC9}"/>
              </a:ext>
            </a:extLst>
          </p:cNvPr>
          <p:cNvSpPr>
            <a:spLocks noGrp="1"/>
          </p:cNvSpPr>
          <p:nvPr>
            <p:ph type="title"/>
          </p:nvPr>
        </p:nvSpPr>
        <p:spPr/>
        <p:txBody>
          <a:bodyPr/>
          <a:lstStyle/>
          <a:p>
            <a:r>
              <a:rPr lang="en-US" dirty="0"/>
              <a:t>CDR Charts </a:t>
            </a:r>
            <a:br>
              <a:rPr lang="en-US" dirty="0"/>
            </a:br>
            <a:r>
              <a:rPr lang="en-US" dirty="0"/>
              <a:t>For Structures group</a:t>
            </a:r>
          </a:p>
        </p:txBody>
      </p:sp>
      <p:sp>
        <p:nvSpPr>
          <p:cNvPr id="3" name="Content Placeholder 2">
            <a:extLst>
              <a:ext uri="{FF2B5EF4-FFF2-40B4-BE49-F238E27FC236}">
                <a16:creationId xmlns:a16="http://schemas.microsoft.com/office/drawing/2014/main" id="{D0BA886F-E8B1-55AC-4EF0-04811A8038BB}"/>
              </a:ext>
            </a:extLst>
          </p:cNvPr>
          <p:cNvSpPr>
            <a:spLocks noGrp="1"/>
          </p:cNvSpPr>
          <p:nvPr>
            <p:ph idx="1"/>
          </p:nvPr>
        </p:nvSpPr>
        <p:spPr>
          <a:xfrm>
            <a:off x="838200" y="1825625"/>
            <a:ext cx="10515600" cy="4667250"/>
          </a:xfrm>
        </p:spPr>
        <p:txBody>
          <a:bodyPr>
            <a:normAutofit/>
          </a:bodyPr>
          <a:lstStyle/>
          <a:p>
            <a:r>
              <a:rPr lang="en-US" dirty="0"/>
              <a:t>Show temperature contour plots of plate and solid parts for both hot and cold cases, clearly indicating max/min temperatures and where they occur on the part</a:t>
            </a:r>
          </a:p>
          <a:p>
            <a:r>
              <a:rPr lang="en-US" dirty="0"/>
              <a:t>For thermal analysis for part/subassembly represented by a node, create a table of all these parts/subassemblies showing the max/min temperatures and their allowable temperatures</a:t>
            </a:r>
          </a:p>
          <a:p>
            <a:r>
              <a:rPr lang="en-US" dirty="0"/>
              <a:t>Show transient temperature vs time plots where heaters are turned on and off to regulate temperature (i.e., show their duty cycle)</a:t>
            </a:r>
          </a:p>
        </p:txBody>
      </p:sp>
      <p:sp>
        <p:nvSpPr>
          <p:cNvPr id="4" name="Slide Number Placeholder 3">
            <a:extLst>
              <a:ext uri="{FF2B5EF4-FFF2-40B4-BE49-F238E27FC236}">
                <a16:creationId xmlns:a16="http://schemas.microsoft.com/office/drawing/2014/main" id="{915D6FD5-1DE2-31A8-F04E-AD69B9E2F386}"/>
              </a:ext>
            </a:extLst>
          </p:cNvPr>
          <p:cNvSpPr>
            <a:spLocks noGrp="1"/>
          </p:cNvSpPr>
          <p:nvPr>
            <p:ph type="sldNum" sz="quarter" idx="12"/>
          </p:nvPr>
        </p:nvSpPr>
        <p:spPr/>
        <p:txBody>
          <a:bodyPr/>
          <a:lstStyle/>
          <a:p>
            <a:fld id="{2A7E1DE5-02E2-4677-84C1-33488A43A777}" type="slidenum">
              <a:rPr lang="en-US" smtClean="0"/>
              <a:t>8</a:t>
            </a:fld>
            <a:endParaRPr lang="en-US"/>
          </a:p>
        </p:txBody>
      </p:sp>
    </p:spTree>
    <p:extLst>
      <p:ext uri="{BB962C8B-B14F-4D97-AF65-F5344CB8AC3E}">
        <p14:creationId xmlns:p14="http://schemas.microsoft.com/office/powerpoint/2010/main" val="35391448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8C2450-055F-A509-18E6-044A427CEA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A47D2D-0BDE-C077-E710-70514A20C073}"/>
              </a:ext>
            </a:extLst>
          </p:cNvPr>
          <p:cNvSpPr>
            <a:spLocks noGrp="1"/>
          </p:cNvSpPr>
          <p:nvPr>
            <p:ph type="title"/>
          </p:nvPr>
        </p:nvSpPr>
        <p:spPr/>
        <p:txBody>
          <a:bodyPr/>
          <a:lstStyle/>
          <a:p>
            <a:r>
              <a:rPr lang="en-US" dirty="0"/>
              <a:t>CDR Charts </a:t>
            </a:r>
            <a:br>
              <a:rPr lang="en-US" dirty="0"/>
            </a:br>
            <a:r>
              <a:rPr lang="en-US" dirty="0"/>
              <a:t>For Controls group</a:t>
            </a:r>
          </a:p>
        </p:txBody>
      </p:sp>
      <p:sp>
        <p:nvSpPr>
          <p:cNvPr id="3" name="Content Placeholder 2">
            <a:extLst>
              <a:ext uri="{FF2B5EF4-FFF2-40B4-BE49-F238E27FC236}">
                <a16:creationId xmlns:a16="http://schemas.microsoft.com/office/drawing/2014/main" id="{4698E502-CFF7-4BEE-23E8-E16D181ED80C}"/>
              </a:ext>
            </a:extLst>
          </p:cNvPr>
          <p:cNvSpPr>
            <a:spLocks noGrp="1"/>
          </p:cNvSpPr>
          <p:nvPr>
            <p:ph idx="1"/>
          </p:nvPr>
        </p:nvSpPr>
        <p:spPr>
          <a:xfrm>
            <a:off x="705064" y="1825625"/>
            <a:ext cx="10781872" cy="4667250"/>
          </a:xfrm>
        </p:spPr>
        <p:txBody>
          <a:bodyPr>
            <a:normAutofit/>
          </a:bodyPr>
          <a:lstStyle/>
          <a:p>
            <a:r>
              <a:rPr lang="en-US" dirty="0"/>
              <a:t>Show controls analysis results</a:t>
            </a:r>
          </a:p>
          <a:p>
            <a:r>
              <a:rPr lang="en-US" dirty="0"/>
              <a:t>Clearly show controls schematics, assumptions, and calculations</a:t>
            </a:r>
          </a:p>
          <a:p>
            <a:r>
              <a:rPr lang="en-US" dirty="0"/>
              <a:t>Determine if any transient or overshoot occurs when CubeSat rotates to target</a:t>
            </a:r>
          </a:p>
          <a:p>
            <a:pPr lvl="1"/>
            <a:r>
              <a:rPr lang="en-US" dirty="0"/>
              <a:t>Plot reaction wheel (RW) torque, CubeSat angular acceleration, angular velocity, and rotation vs time at sensor (IMU?) used to determine CubeSat position. Also, plot RW torque/angular velocity</a:t>
            </a:r>
          </a:p>
          <a:p>
            <a:pPr lvl="1"/>
            <a:endParaRPr lang="en-US" dirty="0"/>
          </a:p>
        </p:txBody>
      </p:sp>
      <p:sp>
        <p:nvSpPr>
          <p:cNvPr id="4" name="Slide Number Placeholder 3">
            <a:extLst>
              <a:ext uri="{FF2B5EF4-FFF2-40B4-BE49-F238E27FC236}">
                <a16:creationId xmlns:a16="http://schemas.microsoft.com/office/drawing/2014/main" id="{42331BF8-EB74-E395-69D2-00CFF924D953}"/>
              </a:ext>
            </a:extLst>
          </p:cNvPr>
          <p:cNvSpPr>
            <a:spLocks noGrp="1"/>
          </p:cNvSpPr>
          <p:nvPr>
            <p:ph type="sldNum" sz="quarter" idx="12"/>
          </p:nvPr>
        </p:nvSpPr>
        <p:spPr/>
        <p:txBody>
          <a:bodyPr/>
          <a:lstStyle/>
          <a:p>
            <a:fld id="{2A7E1DE5-02E2-4677-84C1-33488A43A777}" type="slidenum">
              <a:rPr lang="en-US" smtClean="0"/>
              <a:t>9</a:t>
            </a:fld>
            <a:endParaRPr lang="en-US"/>
          </a:p>
        </p:txBody>
      </p:sp>
    </p:spTree>
    <p:extLst>
      <p:ext uri="{BB962C8B-B14F-4D97-AF65-F5344CB8AC3E}">
        <p14:creationId xmlns:p14="http://schemas.microsoft.com/office/powerpoint/2010/main" val="37669357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69967F-8671-11BC-5721-9641533540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3FBC07-85F5-4A78-C02A-D965E76D9CF9}"/>
              </a:ext>
            </a:extLst>
          </p:cNvPr>
          <p:cNvSpPr>
            <a:spLocks noGrp="1"/>
          </p:cNvSpPr>
          <p:nvPr>
            <p:ph type="title"/>
          </p:nvPr>
        </p:nvSpPr>
        <p:spPr/>
        <p:txBody>
          <a:bodyPr/>
          <a:lstStyle/>
          <a:p>
            <a:r>
              <a:rPr lang="en-US" dirty="0"/>
              <a:t>Dr. Brager (mentor) recommendations for CDR charts</a:t>
            </a:r>
          </a:p>
        </p:txBody>
      </p:sp>
      <p:sp>
        <p:nvSpPr>
          <p:cNvPr id="3" name="Content Placeholder 2">
            <a:extLst>
              <a:ext uri="{FF2B5EF4-FFF2-40B4-BE49-F238E27FC236}">
                <a16:creationId xmlns:a16="http://schemas.microsoft.com/office/drawing/2014/main" id="{7C443338-3267-BB3C-D12E-727329DF4276}"/>
              </a:ext>
            </a:extLst>
          </p:cNvPr>
          <p:cNvSpPr>
            <a:spLocks noGrp="1"/>
          </p:cNvSpPr>
          <p:nvPr>
            <p:ph idx="1"/>
          </p:nvPr>
        </p:nvSpPr>
        <p:spPr>
          <a:xfrm>
            <a:off x="838200" y="1825625"/>
            <a:ext cx="10802420" cy="4351338"/>
          </a:xfrm>
        </p:spPr>
        <p:txBody>
          <a:bodyPr>
            <a:normAutofit fontScale="92500" lnSpcReduction="10000"/>
          </a:bodyPr>
          <a:lstStyle/>
          <a:p>
            <a:r>
              <a:rPr lang="en-US" dirty="0"/>
              <a:t>The objective of CDR is for the stakeholders to have complete confidence that you are ready to begin implementing your proposed solution. So, all segments must be ‘on the same page’ and ready to go. </a:t>
            </a:r>
          </a:p>
          <a:p>
            <a:pPr marL="0" indent="0">
              <a:buNone/>
            </a:pPr>
            <a:endParaRPr lang="en-US" dirty="0"/>
          </a:p>
          <a:p>
            <a:r>
              <a:rPr lang="en-US" dirty="0"/>
              <a:t>Project overview first identifying customer, stakeholders, state of need/objectives (describe the problem), system CONOP (concept of operations), and key SYSTEM requirements including overall size, weight, power, mission duration, orbit details, approvals required, etc. Also include a chart/table of how each requirement flows down to each segment. Also identify all funding sources and any conditions. Finally present Master Schedule with all segments identified and critical path clearly illustrated. Ensure all open action items are addressed.</a:t>
            </a:r>
          </a:p>
        </p:txBody>
      </p:sp>
      <p:sp>
        <p:nvSpPr>
          <p:cNvPr id="4" name="Slide Number Placeholder 3">
            <a:extLst>
              <a:ext uri="{FF2B5EF4-FFF2-40B4-BE49-F238E27FC236}">
                <a16:creationId xmlns:a16="http://schemas.microsoft.com/office/drawing/2014/main" id="{CBB8F477-7D17-15E2-8858-C215062D2015}"/>
              </a:ext>
            </a:extLst>
          </p:cNvPr>
          <p:cNvSpPr>
            <a:spLocks noGrp="1"/>
          </p:cNvSpPr>
          <p:nvPr>
            <p:ph type="sldNum" sz="quarter" idx="12"/>
          </p:nvPr>
        </p:nvSpPr>
        <p:spPr/>
        <p:txBody>
          <a:bodyPr/>
          <a:lstStyle/>
          <a:p>
            <a:fld id="{2A7E1DE5-02E2-4677-84C1-33488A43A777}" type="slidenum">
              <a:rPr lang="en-US" smtClean="0"/>
              <a:t>10</a:t>
            </a:fld>
            <a:endParaRPr lang="en-US"/>
          </a:p>
        </p:txBody>
      </p:sp>
    </p:spTree>
    <p:extLst>
      <p:ext uri="{BB962C8B-B14F-4D97-AF65-F5344CB8AC3E}">
        <p14:creationId xmlns:p14="http://schemas.microsoft.com/office/powerpoint/2010/main" val="39635796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00C35A-3003-59AD-4EA0-721B4B98336A}"/>
              </a:ext>
            </a:extLst>
          </p:cNvPr>
          <p:cNvSpPr>
            <a:spLocks noGrp="1"/>
          </p:cNvSpPr>
          <p:nvPr>
            <p:ph type="title"/>
          </p:nvPr>
        </p:nvSpPr>
        <p:spPr/>
        <p:txBody>
          <a:bodyPr/>
          <a:lstStyle/>
          <a:p>
            <a:r>
              <a:rPr lang="en-US" dirty="0"/>
              <a:t>Dr. Brager (mentor) recommendations for CDR charts</a:t>
            </a:r>
          </a:p>
        </p:txBody>
      </p:sp>
      <p:sp>
        <p:nvSpPr>
          <p:cNvPr id="4" name="Slide Number Placeholder 3">
            <a:extLst>
              <a:ext uri="{FF2B5EF4-FFF2-40B4-BE49-F238E27FC236}">
                <a16:creationId xmlns:a16="http://schemas.microsoft.com/office/drawing/2014/main" id="{39E6F193-A9AE-5BD8-F49C-B4C501478B38}"/>
              </a:ext>
            </a:extLst>
          </p:cNvPr>
          <p:cNvSpPr>
            <a:spLocks noGrp="1"/>
          </p:cNvSpPr>
          <p:nvPr>
            <p:ph type="sldNum" sz="quarter" idx="12"/>
          </p:nvPr>
        </p:nvSpPr>
        <p:spPr/>
        <p:txBody>
          <a:bodyPr/>
          <a:lstStyle/>
          <a:p>
            <a:fld id="{2A7E1DE5-02E2-4677-84C1-33488A43A777}" type="slidenum">
              <a:rPr lang="en-US" smtClean="0"/>
              <a:t>11</a:t>
            </a:fld>
            <a:endParaRPr lang="en-US"/>
          </a:p>
        </p:txBody>
      </p:sp>
      <p:sp>
        <p:nvSpPr>
          <p:cNvPr id="6" name="Content Placeholder 5">
            <a:extLst>
              <a:ext uri="{FF2B5EF4-FFF2-40B4-BE49-F238E27FC236}">
                <a16:creationId xmlns:a16="http://schemas.microsoft.com/office/drawing/2014/main" id="{3BAFFA43-F920-427A-D912-6D120F2D5C1C}"/>
              </a:ext>
            </a:extLst>
          </p:cNvPr>
          <p:cNvSpPr>
            <a:spLocks noGrp="1"/>
          </p:cNvSpPr>
          <p:nvPr>
            <p:ph idx="1"/>
          </p:nvPr>
        </p:nvSpPr>
        <p:spPr>
          <a:xfrm>
            <a:off x="838200" y="1825624"/>
            <a:ext cx="10515600" cy="4821755"/>
          </a:xfrm>
        </p:spPr>
        <p:txBody>
          <a:bodyPr>
            <a:normAutofit fontScale="92500" lnSpcReduction="10000"/>
          </a:bodyPr>
          <a:lstStyle/>
          <a:p>
            <a:r>
              <a:rPr lang="en-US" dirty="0"/>
              <a:t>Segment overviews: Begin with segment overview, illustration, stakeholders, etc. Present CONOP for the segment. Then identify all system requirements that flowed down in a table. Then add unique additional requirements related to the segment. Finally identify any requirements that the segment is levying on other segments or the overall system. </a:t>
            </a:r>
          </a:p>
          <a:p>
            <a:r>
              <a:rPr lang="en-US" dirty="0"/>
              <a:t>Present proposed solution and add a column in the requirements tables to show how the solution meets or exceeds each requirement and identify the margin. Clearly identify any requirement where the proposed solution does NOT meet the requirement and identify alternatives. Make sure to identify proposed vendors, order dates, and lead times for all budget items. </a:t>
            </a:r>
          </a:p>
          <a:p>
            <a:r>
              <a:rPr lang="en-US" dirty="0"/>
              <a:t>Make sure to identify critical path in the schedule (Gantt Chart) and include extra time (management reserve). For risks, identify proposed mitigation strategy to minimize each risk. Finally ensure that all prior action items are closed.</a:t>
            </a:r>
          </a:p>
        </p:txBody>
      </p:sp>
    </p:spTree>
    <p:extLst>
      <p:ext uri="{BB962C8B-B14F-4D97-AF65-F5344CB8AC3E}">
        <p14:creationId xmlns:p14="http://schemas.microsoft.com/office/powerpoint/2010/main" val="385956958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215247A15C38DE40A573999B6070A975" ma:contentTypeVersion="11" ma:contentTypeDescription="Create a new document." ma:contentTypeScope="" ma:versionID="afb66a0050ffe63c0caaf523038e8bbd">
  <xsd:schema xmlns:xsd="http://www.w3.org/2001/XMLSchema" xmlns:xs="http://www.w3.org/2001/XMLSchema" xmlns:p="http://schemas.microsoft.com/office/2006/metadata/properties" xmlns:ns2="a5dae947-98e5-495e-bab1-cc2a6059ad3b" xmlns:ns3="101382ff-e895-4226-9b8b-208a50023ada" targetNamespace="http://schemas.microsoft.com/office/2006/metadata/properties" ma:root="true" ma:fieldsID="34e31e9107cc25fa3e8a352dd8873f5d" ns2:_="" ns3:_="">
    <xsd:import namespace="a5dae947-98e5-495e-bab1-cc2a6059ad3b"/>
    <xsd:import namespace="101382ff-e895-4226-9b8b-208a50023ada"/>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5dae947-98e5-495e-bab1-cc2a6059ad3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6dcab841-b377-4e82-87b7-c4480f266366"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101382ff-e895-4226-9b8b-208a50023ada"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bcad34b7-b5d1-438c-95c5-dcc7e7eb8d6f}" ma:internalName="TaxCatchAll" ma:showField="CatchAllData" ma:web="101382ff-e895-4226-9b8b-208a50023ad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101382ff-e895-4226-9b8b-208a50023ada" xsi:nil="true"/>
    <lcf76f155ced4ddcb4097134ff3c332f xmlns="a5dae947-98e5-495e-bab1-cc2a6059ad3b">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6392F47A-0444-451D-8E9F-EE6D97BF86DB}">
  <ds:schemaRefs>
    <ds:schemaRef ds:uri="http://schemas.microsoft.com/sharepoint/v3/contenttype/forms"/>
  </ds:schemaRefs>
</ds:datastoreItem>
</file>

<file path=customXml/itemProps2.xml><?xml version="1.0" encoding="utf-8"?>
<ds:datastoreItem xmlns:ds="http://schemas.openxmlformats.org/officeDocument/2006/customXml" ds:itemID="{C98F66A2-3AFA-4B2D-92B7-9529D5901C4D}"/>
</file>

<file path=customXml/itemProps3.xml><?xml version="1.0" encoding="utf-8"?>
<ds:datastoreItem xmlns:ds="http://schemas.openxmlformats.org/officeDocument/2006/customXml" ds:itemID="{7885534D-0878-4B10-B844-B75112D13E8F}">
  <ds:schemaRefs>
    <ds:schemaRef ds:uri="http://www.w3.org/XML/1998/namespace"/>
    <ds:schemaRef ds:uri="http://schemas.microsoft.com/office/2006/documentManagement/types"/>
    <ds:schemaRef ds:uri="04af2d8e-cce2-486d-9bed-f29871b77fb0"/>
    <ds:schemaRef ds:uri="http://purl.org/dc/terms/"/>
    <ds:schemaRef ds:uri="http://schemas.openxmlformats.org/package/2006/metadata/core-properties"/>
    <ds:schemaRef ds:uri="http://schemas.microsoft.com/office/infopath/2007/PartnerControls"/>
    <ds:schemaRef ds:uri="9a5f534e-6ebf-4645-b1bb-6de8d157c51c"/>
    <ds:schemaRef ds:uri="http://schemas.microsoft.com/office/2006/metadata/properties"/>
    <ds:schemaRef ds:uri="http://purl.org/dc/dcmitype/"/>
    <ds:schemaRef ds:uri="http://purl.org/dc/elements/1.1/"/>
  </ds:schemaRefs>
</ds:datastoreItem>
</file>

<file path=docProps/app.xml><?xml version="1.0" encoding="utf-8"?>
<Properties xmlns="http://schemas.openxmlformats.org/officeDocument/2006/extended-properties" xmlns:vt="http://schemas.openxmlformats.org/officeDocument/2006/docPropsVTypes">
  <TotalTime>86</TotalTime>
  <Words>1227</Words>
  <Application>Microsoft Office PowerPoint</Application>
  <PresentationFormat>Widescreen</PresentationFormat>
  <Paragraphs>78</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Calibri Light</vt:lpstr>
      <vt:lpstr>Wingdings</vt:lpstr>
      <vt:lpstr>Office Theme</vt:lpstr>
      <vt:lpstr>CubeSat CDR Format</vt:lpstr>
      <vt:lpstr>CDR Charts</vt:lpstr>
      <vt:lpstr>CDR Charts </vt:lpstr>
      <vt:lpstr>CDR Charts </vt:lpstr>
      <vt:lpstr>CDR Charts </vt:lpstr>
      <vt:lpstr>CDR Charts </vt:lpstr>
      <vt:lpstr>CDR Charts  For Structures group</vt:lpstr>
      <vt:lpstr>CDR Charts  For Structures group</vt:lpstr>
      <vt:lpstr>CDR Charts  For Controls group</vt:lpstr>
      <vt:lpstr>Dr. Brager (mentor) recommendations for CDR charts</vt:lpstr>
      <vt:lpstr>Dr. Brager (mentor) recommendations for CDR charts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Monty Kennedy</dc:creator>
  <cp:lastModifiedBy>Monty Kennedy</cp:lastModifiedBy>
  <cp:revision>4</cp:revision>
  <dcterms:created xsi:type="dcterms:W3CDTF">2024-11-05T15:06:51Z</dcterms:created>
  <dcterms:modified xsi:type="dcterms:W3CDTF">2024-11-22T16:22:15Z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0x010100215247A15C38DE40A573999B6070A975</vt:lpwstr>
  </property>
</Properties>
</file>