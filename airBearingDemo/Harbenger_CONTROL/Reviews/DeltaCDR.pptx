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2" r:id="rId4"/>
  </p:sldMasterIdLst>
  <p:notesMasterIdLst>
    <p:notesMasterId r:id="rId23"/>
  </p:notesMasterIdLst>
  <p:sldIdLst>
    <p:sldId id="284" r:id="rId5"/>
    <p:sldId id="283" r:id="rId6"/>
    <p:sldId id="265" r:id="rId7"/>
    <p:sldId id="304" r:id="rId8"/>
    <p:sldId id="289" r:id="rId9"/>
    <p:sldId id="311" r:id="rId10"/>
    <p:sldId id="299" r:id="rId11"/>
    <p:sldId id="285" r:id="rId12"/>
    <p:sldId id="300" r:id="rId13"/>
    <p:sldId id="305" r:id="rId14"/>
    <p:sldId id="301" r:id="rId15"/>
    <p:sldId id="307" r:id="rId16"/>
    <p:sldId id="309" r:id="rId17"/>
    <p:sldId id="302" r:id="rId18"/>
    <p:sldId id="306" r:id="rId19"/>
    <p:sldId id="297" r:id="rId20"/>
    <p:sldId id="294" r:id="rId21"/>
    <p:sldId id="26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1C21"/>
    <a:srgbClr val="003058"/>
    <a:srgbClr val="344529"/>
    <a:srgbClr val="2B3922"/>
    <a:srgbClr val="2E3722"/>
    <a:srgbClr val="FCF7F1"/>
    <a:srgbClr val="B8D233"/>
    <a:srgbClr val="5CC6D6"/>
    <a:srgbClr val="F8D22F"/>
    <a:srgbClr val="F03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D24E8-7721-4B75-8B15-3584059203D5}" v="169" dt="2025-04-09T22:23:45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D6A13-8751-44E5-A777-2BA6DD2B178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22803-933A-464A-BF5A-19638B6C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/>
              <a:t>Talking Points: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State who your sponsor is and give a short background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Read the design statement verbatim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Give the 1000-foot view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46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your talking points with details. You will not read from these notes and these notes may contain information that you forget to mention in your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Everything needs to be in bullet point form and put in presenting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81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your talking points with details. You will not read from these notes and these notes may contain information that you forget to mention in your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Everything needs to be in bullet point form and put in presenting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81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71D4-5047-8AEE-3510-2943A971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26357-C90B-A961-B3EF-50B1FE28A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F2A0D-6542-29DF-1728-A90934174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AEB58-15EB-B315-2B60-5D6706E8C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45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31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690E-D08E-0E68-0B88-3E77931F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A03AA-7090-46B6-522A-BCFA1F6C4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A8843-4299-1304-527F-0053E7B7C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/>
              <a:t>Explicit Images (if they pertain to your project)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Wiring Diagram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Circuit Schematic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PCB Design</a:t>
            </a:r>
          </a:p>
          <a:p>
            <a:pPr>
              <a:spcBef>
                <a:spcPts val="1000"/>
              </a:spcBef>
            </a:pPr>
            <a:endParaRPr lang="en-US"/>
          </a:p>
          <a:p>
            <a:pPr>
              <a:spcBef>
                <a:spcPts val="1000"/>
              </a:spcBef>
            </a:pPr>
            <a:r>
              <a:rPr lang="en-US"/>
              <a:t>Programs that can assist you are: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Fritzing / </a:t>
            </a:r>
            <a:r>
              <a:rPr lang="en-US" err="1"/>
              <a:t>TinkerCAD</a:t>
            </a:r>
            <a:r>
              <a:rPr lang="en-US"/>
              <a:t> Electronics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 err="1"/>
              <a:t>LTSpice</a:t>
            </a:r>
            <a:r>
              <a:rPr lang="en-US"/>
              <a:t> 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 err="1"/>
              <a:t>KiCAD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652C7-D3E5-F896-3AED-AD4D61107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69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Create a table for each board that shows each electronic component spec sheet values for power, voltage, current, temperature </a:t>
            </a:r>
            <a:r>
              <a:rPr lang="en-US" err="1"/>
              <a:t>allowables</a:t>
            </a:r>
            <a:r>
              <a:rPr lang="en-US"/>
              <a:t> vs </a:t>
            </a:r>
            <a:r>
              <a:rPr lang="en-US" err="1"/>
              <a:t>CubeSatorbit</a:t>
            </a:r>
            <a:r>
              <a:rPr lang="en-US"/>
              <a:t> maximum power, voltage, current, and temperatures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•Need to clearly demonstrate derating margin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•Table will show for each component, the type of component, the </a:t>
            </a:r>
            <a:r>
              <a:rPr lang="en-US" err="1"/>
              <a:t>allowables</a:t>
            </a:r>
            <a:r>
              <a:rPr lang="en-US"/>
              <a:t>, and the operational values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96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F9CF-DC8A-C6E6-6FFB-31D0D4E9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E8995-85A5-2ECE-A70C-56C206FAA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DC913-A94A-EF8F-0EAA-C2391D4B8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•Clearly indicate the software that comes with your subsystem and the software that will be needed to interface with your subsystem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•Clearly indicate expected lines of code, the software that will be used, and who will write the code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6FE23-B6A9-CE90-1E62-62D49E740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76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•Determine if any transient or overshoot occurs when CubeSat rotates to target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•Plot reaction wheel (RW) torque, CubeSat angular acceleration, angular velocity, and rotation vs time at sensor (IMU?) used to determine CubeSat position. Also, plot RW torque/angular velocity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72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84F5-2008-B853-2509-ACA78B04A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DA217-D1B4-2A41-C211-F92C4C258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885FC-22E7-C833-5E40-5E69480B3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your talking points with details. You will not read from these notes and these notes may contain information that you forget to mention in your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Everything needs to be in bullet point form and put in presenting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B229B-2160-B96A-1D32-E1CA700C9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43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your talking points with details. You will not read from these notes and these notes may contain information that you forget to mention in your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Everything needs to be in bullet point form and put in presenting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44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/>
              <a:t>Talking Points: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Discuss your detailed schedule leading up to Test Readiness Review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Point out series and parallel tasks &amp; defend overall arrangement of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93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5441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0306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267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31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553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8310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1379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7897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548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694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76517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4362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911626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3905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9657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1954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8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tahtech.onshape.com/documents/3ba9dd0075390701f06fe3ee/w/46c3c846f55bd90f12163e77/e/23889157bf4e53e8f2526b64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x5252ahhn4elurghndwhi/Ordering-Sheet-Control.xlsx?rlkey=swf18lss0prn7cls1npx8s1pl&amp;st=g7at8tg6&amp;dl=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www.dropbox.com/scl/fi/py0slo04gd6oknoqdei4o/3-Purchasing-Template-Controls.xlsx?rlkey=2xe2smt9y44g7f8w2dhajczdk&amp;st=t9rgxawm&amp;dl=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5zhnrk99taoojvrz56e43/Gantt-Chart-Controls.xlsx?rlkey=wolo322l11mj7b0qrr6ced9mf&amp;st=c8skr90x&amp;dl=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13BE226-F91B-5068-CE68-55E005528DB8}"/>
              </a:ext>
            </a:extLst>
          </p:cNvPr>
          <p:cNvGrpSpPr/>
          <p:nvPr/>
        </p:nvGrpSpPr>
        <p:grpSpPr>
          <a:xfrm>
            <a:off x="0" y="0"/>
            <a:ext cx="9144000" cy="894665"/>
            <a:chOff x="0" y="0"/>
            <a:chExt cx="9144000" cy="8946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F050D0-51F3-4C4C-97A7-2C7F55A8711E}"/>
                </a:ext>
              </a:extLst>
            </p:cNvPr>
            <p:cNvSpPr/>
            <p:nvPr/>
          </p:nvSpPr>
          <p:spPr>
            <a:xfrm>
              <a:off x="0" y="0"/>
              <a:ext cx="9144000" cy="894665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74000">
                  <a:srgbClr val="003058"/>
                </a:gs>
                <a:gs pos="83000">
                  <a:srgbClr val="003058"/>
                </a:gs>
                <a:gs pos="100000">
                  <a:srgbClr val="003058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939C93-C320-E8FC-495D-E709655C763B}"/>
                </a:ext>
              </a:extLst>
            </p:cNvPr>
            <p:cNvSpPr txBox="1"/>
            <p:nvPr/>
          </p:nvSpPr>
          <p:spPr>
            <a:xfrm>
              <a:off x="233234" y="108634"/>
              <a:ext cx="68223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  <a:effectLst/>
                  <a:latin typeface="Trailblazers Font B Width 300" pitchFamily="2" charset="0"/>
                </a:rPr>
                <a:t>Delta Critical Design Review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AECAD2-8DF9-716B-D426-CC6AC3EF3F69}"/>
              </a:ext>
            </a:extLst>
          </p:cNvPr>
          <p:cNvSpPr txBox="1">
            <a:spLocks/>
          </p:cNvSpPr>
          <p:nvPr/>
        </p:nvSpPr>
        <p:spPr>
          <a:xfrm>
            <a:off x="290512" y="1909295"/>
            <a:ext cx="9144000" cy="1493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latin typeface="Bison Bold"/>
              </a:rPr>
              <a:t>CubeSat | Control</a:t>
            </a:r>
            <a:endParaRPr lang="en-US" sz="7200">
              <a:latin typeface="Bison Bold" panose="000004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1D4F7-24D0-AF4C-C6C9-A8052ED58C30}"/>
              </a:ext>
            </a:extLst>
          </p:cNvPr>
          <p:cNvSpPr txBox="1">
            <a:spLocks/>
          </p:cNvSpPr>
          <p:nvPr/>
        </p:nvSpPr>
        <p:spPr>
          <a:xfrm>
            <a:off x="290512" y="4484251"/>
            <a:ext cx="9144000" cy="20328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Altivo Regular"/>
              </a:rPr>
              <a:t>Ben Sherman</a:t>
            </a:r>
            <a:endParaRPr lang="en-US" dirty="0">
              <a:latin typeface="Altivo Regular" panose="020B0000000000000000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ltivo Regular"/>
              </a:rPr>
              <a:t>Trace Shafer</a:t>
            </a:r>
          </a:p>
          <a:p>
            <a:pPr marL="0" indent="0" algn="ctr">
              <a:buNone/>
            </a:pPr>
            <a:r>
              <a:rPr lang="en-US" dirty="0">
                <a:latin typeface="Altivo Regular"/>
              </a:rPr>
              <a:t>Lauric Brown</a:t>
            </a:r>
            <a:endParaRPr lang="en-US" dirty="0">
              <a:latin typeface="Altivo Regular" panose="020B0000000000000000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ltivo Regular"/>
              </a:rPr>
              <a:t>Micah Gifford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FB13CA-CF7A-FFC2-89D7-1C0FA9ADC0C2}"/>
              </a:ext>
            </a:extLst>
          </p:cNvPr>
          <p:cNvSpPr txBox="1">
            <a:spLocks/>
          </p:cNvSpPr>
          <p:nvPr/>
        </p:nvSpPr>
        <p:spPr>
          <a:xfrm>
            <a:off x="290512" y="3403117"/>
            <a:ext cx="9144000" cy="8205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ltivo Regular" panose="020B0000000000000000" pitchFamily="34" charset="0"/>
              </a:rPr>
              <a:t>MECH/ECE 4000 – Product Design I</a:t>
            </a:r>
          </a:p>
          <a:p>
            <a:r>
              <a:rPr lang="en-US" dirty="0">
                <a:latin typeface="Altivo Regular"/>
              </a:rPr>
              <a:t>8 Jan 2025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80312E-CC29-76BF-3F03-CFDCACC8934D}"/>
              </a:ext>
            </a:extLst>
          </p:cNvPr>
          <p:cNvCxnSpPr/>
          <p:nvPr/>
        </p:nvCxnSpPr>
        <p:spPr>
          <a:xfrm>
            <a:off x="1854200" y="3196773"/>
            <a:ext cx="5880100" cy="0"/>
          </a:xfrm>
          <a:prstGeom prst="line">
            <a:avLst/>
          </a:prstGeom>
          <a:ln w="38100">
            <a:solidFill>
              <a:srgbClr val="BA1C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EB945-423F-B76D-FB32-4BB738D5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4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B618-E765-1073-0B45-0FB96B0C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C284E-1BD7-A4DF-D042-24215394D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85900"/>
            <a:ext cx="9843856" cy="49276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n-US" sz="1700" dirty="0"/>
              <a:t>Design Statement</a:t>
            </a:r>
          </a:p>
          <a:p>
            <a:pPr marL="457200" indent="-457200"/>
            <a:r>
              <a:rPr lang="en-US" sz="1700" dirty="0"/>
              <a:t>Design Requirements</a:t>
            </a:r>
          </a:p>
          <a:p>
            <a:pPr marL="457200" indent="-457200"/>
            <a:r>
              <a:rPr lang="en-US" sz="1700" dirty="0"/>
              <a:t>Metrics Check</a:t>
            </a:r>
          </a:p>
          <a:p>
            <a:pPr marL="457200" indent="-457200"/>
            <a:r>
              <a:rPr lang="en-US" sz="1700" dirty="0"/>
              <a:t>Mechanical System Review</a:t>
            </a:r>
          </a:p>
          <a:p>
            <a:pPr marL="457200" indent="-457200"/>
            <a:r>
              <a:rPr lang="en-US" sz="1700" dirty="0"/>
              <a:t>Assembly Plan</a:t>
            </a:r>
          </a:p>
          <a:p>
            <a:pPr marL="457200" indent="-457200"/>
            <a:r>
              <a:rPr lang="en-US" sz="1700" dirty="0"/>
              <a:t>Electrical System Review</a:t>
            </a:r>
          </a:p>
          <a:p>
            <a:pPr marL="457200" indent="-457200"/>
            <a:r>
              <a:rPr lang="en-US" sz="1700" dirty="0"/>
              <a:t>Electronic Component Spec Sheet</a:t>
            </a:r>
          </a:p>
          <a:p>
            <a:pPr marL="457200" indent="-457200"/>
            <a:r>
              <a:rPr lang="en-US" sz="1700" dirty="0"/>
              <a:t>Software System Review</a:t>
            </a:r>
          </a:p>
          <a:p>
            <a:pPr marL="457200" indent="-457200"/>
            <a:r>
              <a:rPr lang="en-US" sz="1700" dirty="0"/>
              <a:t>Testing</a:t>
            </a:r>
          </a:p>
          <a:p>
            <a:pPr marL="457200" indent="-457200"/>
            <a:r>
              <a:rPr lang="en-US" sz="1700" dirty="0"/>
              <a:t>Control Analysis Results</a:t>
            </a:r>
          </a:p>
          <a:p>
            <a:pPr marL="457200" indent="-457200"/>
            <a:r>
              <a:rPr lang="en-US" sz="1700" dirty="0"/>
              <a:t>Fabrication Plan</a:t>
            </a:r>
          </a:p>
          <a:p>
            <a:pPr marL="457200" indent="-457200"/>
            <a:r>
              <a:rPr lang="en-US" sz="1700" dirty="0"/>
              <a:t>Budget/Bill of Materials</a:t>
            </a:r>
          </a:p>
          <a:p>
            <a:pPr marL="457200" indent="-457200"/>
            <a:r>
              <a:rPr lang="en-US" sz="1700" dirty="0"/>
              <a:t>Schedule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0B250-842F-7298-D64A-EFFFBF6D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5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B0FB-2CF6-4AE0-8331-AED94AC4D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09" y="1543050"/>
            <a:ext cx="8606193" cy="45307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/>
          </a:p>
          <a:p>
            <a:r>
              <a:rPr lang="en-US"/>
              <a:t>Stakeholders: Utah NASA Space Grant Consortium, Utah Division of Water Resources</a:t>
            </a:r>
          </a:p>
          <a:p>
            <a:r>
              <a:rPr lang="en-US"/>
              <a:t>Sponsors: RAM, PTC, Washington County and Water Conservancy District</a:t>
            </a:r>
            <a:endParaRPr lang="en-US" sz="1800"/>
          </a:p>
          <a:p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</a:rPr>
              <a:t>Design</a:t>
            </a:r>
            <a:r>
              <a:rPr lang="en-US" sz="1800">
                <a:solidFill>
                  <a:schemeClr val="tx1">
                    <a:lumMod val="76000"/>
                    <a:lumOff val="24000"/>
                  </a:schemeClr>
                </a:solidFill>
              </a:rPr>
              <a:t> statement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</a:rPr>
              <a:t>: 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Trebuchet MS"/>
                <a:cs typeface="Calibri"/>
              </a:rPr>
              <a:t>Design, prototype, and evaluate attitude control system to point at a set location on Earth while taking a photo from low Earth orbit.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pic>
        <p:nvPicPr>
          <p:cNvPr id="4" name="Picture 3" descr="Utah NASA Space Grant Consortium">
            <a:extLst>
              <a:ext uri="{FF2B5EF4-FFF2-40B4-BE49-F238E27FC236}">
                <a16:creationId xmlns:a16="http://schemas.microsoft.com/office/drawing/2014/main" id="{155C269B-2FD1-EBD6-58A9-8B373CE1A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810000"/>
            <a:ext cx="2743200" cy="2743200"/>
          </a:xfrm>
          <a:prstGeom prst="rect">
            <a:avLst/>
          </a:prstGeom>
        </p:spPr>
      </p:pic>
      <p:pic>
        <p:nvPicPr>
          <p:cNvPr id="5" name="Picture 4" descr="Utah Division of Water Resources | LinkedIn">
            <a:extLst>
              <a:ext uri="{FF2B5EF4-FFF2-40B4-BE49-F238E27FC236}">
                <a16:creationId xmlns:a16="http://schemas.microsoft.com/office/drawing/2014/main" id="{BB14C511-2104-A710-DDC5-8877D87FF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3810000"/>
            <a:ext cx="2752725" cy="2743200"/>
          </a:xfrm>
          <a:prstGeom prst="rect">
            <a:avLst/>
          </a:prstGeom>
        </p:spPr>
      </p:pic>
      <p:pic>
        <p:nvPicPr>
          <p:cNvPr id="6" name="Picture 5" descr="Home - RAM Aviation, Space &amp; Defense">
            <a:extLst>
              <a:ext uri="{FF2B5EF4-FFF2-40B4-BE49-F238E27FC236}">
                <a16:creationId xmlns:a16="http://schemas.microsoft.com/office/drawing/2014/main" id="{D90C3CFE-C820-39E9-65E6-7F436FDAE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925" y="5291746"/>
            <a:ext cx="2743200" cy="1208458"/>
          </a:xfrm>
          <a:prstGeom prst="rect">
            <a:avLst/>
          </a:prstGeom>
        </p:spPr>
      </p:pic>
      <p:pic>
        <p:nvPicPr>
          <p:cNvPr id="7" name="Picture 6" descr="Onshape Reviews &amp; Testimonials">
            <a:extLst>
              <a:ext uri="{FF2B5EF4-FFF2-40B4-BE49-F238E27FC236}">
                <a16:creationId xmlns:a16="http://schemas.microsoft.com/office/drawing/2014/main" id="{CF3E5C51-BEDB-A2A5-A8CF-0B23F21CD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925" y="3657600"/>
            <a:ext cx="2743200" cy="1524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DFC04F-AF8B-4C0C-99B8-DEDB6D1C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4413" y="6489037"/>
            <a:ext cx="683339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7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9A2B-ABC5-29FD-1B3F-3132C796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1700"/>
          </a:xfrm>
        </p:spPr>
        <p:txBody>
          <a:bodyPr/>
          <a:lstStyle/>
          <a:p>
            <a:r>
              <a:rPr lang="en-US" dirty="0"/>
              <a:t>Design Requirements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8257C7-AB49-DB7E-3E10-FCB7352D6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760634"/>
              </p:ext>
            </p:extLst>
          </p:nvPr>
        </p:nvGraphicFramePr>
        <p:xfrm>
          <a:off x="676275" y="2381250"/>
          <a:ext cx="10028872" cy="2941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4436">
                  <a:extLst>
                    <a:ext uri="{9D8B030D-6E8A-4147-A177-3AD203B41FA5}">
                      <a16:colId xmlns:a16="http://schemas.microsoft.com/office/drawing/2014/main" val="3915304063"/>
                    </a:ext>
                  </a:extLst>
                </a:gridCol>
                <a:gridCol w="5014436">
                  <a:extLst>
                    <a:ext uri="{9D8B030D-6E8A-4147-A177-3AD203B41FA5}">
                      <a16:colId xmlns:a16="http://schemas.microsoft.com/office/drawing/2014/main" val="3316838159"/>
                    </a:ext>
                  </a:extLst>
                </a:gridCol>
              </a:tblGrid>
              <a:tr h="675650">
                <a:tc>
                  <a:txBody>
                    <a:bodyPr/>
                    <a:lstStyle/>
                    <a:p>
                      <a:r>
                        <a:rPr lang="en-US"/>
                        <a:t>Design Requirements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How is it satisfied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6400"/>
                  </a:ext>
                </a:extLst>
              </a:tr>
              <a:tr h="675650">
                <a:tc>
                  <a:txBody>
                    <a:bodyPr/>
                    <a:lstStyle/>
                    <a:p>
                      <a:r>
                        <a:rPr lang="en-US"/>
                        <a:t>Total Contingency Weight: 1kg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752.64 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509035"/>
                  </a:ext>
                </a:extLst>
              </a:tr>
              <a:tr h="675650">
                <a:tc>
                  <a:txBody>
                    <a:bodyPr/>
                    <a:lstStyle/>
                    <a:p>
                      <a:r>
                        <a:rPr lang="en-US"/>
                        <a:t>Total Power allocation: 13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Currently planning to use 3W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514358"/>
                  </a:ext>
                </a:extLst>
              </a:tr>
              <a:tr h="675650">
                <a:tc>
                  <a:txBody>
                    <a:bodyPr/>
                    <a:lstStyle/>
                    <a:p>
                      <a:r>
                        <a:rPr lang="en-US"/>
                        <a:t>Cleanliness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Wear gloves and facemasks when handling flight hardware to ensure parts are handled with care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2354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B24C8-9D2A-3AD4-0049-CC0264F1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3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Check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7FD33A-603C-2DB7-FBEF-1A5E82F9A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305257"/>
              </p:ext>
            </p:extLst>
          </p:nvPr>
        </p:nvGraphicFramePr>
        <p:xfrm>
          <a:off x="839259" y="1550034"/>
          <a:ext cx="10514501" cy="4151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756">
                  <a:extLst>
                    <a:ext uri="{9D8B030D-6E8A-4147-A177-3AD203B41FA5}">
                      <a16:colId xmlns:a16="http://schemas.microsoft.com/office/drawing/2014/main" val="3379832835"/>
                    </a:ext>
                  </a:extLst>
                </a:gridCol>
                <a:gridCol w="2045140">
                  <a:extLst>
                    <a:ext uri="{9D8B030D-6E8A-4147-A177-3AD203B41FA5}">
                      <a16:colId xmlns:a16="http://schemas.microsoft.com/office/drawing/2014/main" val="1031752385"/>
                    </a:ext>
                  </a:extLst>
                </a:gridCol>
                <a:gridCol w="3445984">
                  <a:extLst>
                    <a:ext uri="{9D8B030D-6E8A-4147-A177-3AD203B41FA5}">
                      <a16:colId xmlns:a16="http://schemas.microsoft.com/office/drawing/2014/main" val="4045929110"/>
                    </a:ext>
                  </a:extLst>
                </a:gridCol>
                <a:gridCol w="941451">
                  <a:extLst>
                    <a:ext uri="{9D8B030D-6E8A-4147-A177-3AD203B41FA5}">
                      <a16:colId xmlns:a16="http://schemas.microsoft.com/office/drawing/2014/main" val="1553128571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1093142794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2131381467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316469134"/>
                    </a:ext>
                  </a:extLst>
                </a:gridCol>
              </a:tblGrid>
              <a:tr h="60004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Acceptable</a:t>
                      </a:r>
                    </a:p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PDR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CDR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23936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Total Contingency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752.64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752.64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752.64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95861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Rotate to Fix blur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The CubeSat will need to rotate while taking a picture to stop the blur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1492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Sun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Locates the sun and is required to back up star tracker (response 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&lt;10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6e-5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025305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Tracks acceleration (accuracy)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Gravity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-16 to 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Trebuchet MS"/>
                        </a:rPr>
                        <a:t>Acceptable values found in datasheet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Trebuchet MS"/>
                        </a:rPr>
                        <a:t>Acceptable values found in datasheet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508314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Magnetometer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Range to cover </a:t>
                      </a:r>
                      <a:r>
                        <a:rPr lang="en-US" sz="1200" err="1"/>
                        <a:t>earths</a:t>
                      </a:r>
                      <a:r>
                        <a:rPr lang="en-US" sz="1200"/>
                        <a:t> magnetic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microtesla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 to 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Acceptable values found in datasheet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Trebuchet MS"/>
                        </a:rPr>
                        <a:t>Acceptable values found in datasheet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338450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Magnetic dipole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Magnetorquers ability to create a magnetic dipole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Am^2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 to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533146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Star Tracker camera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 to 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7917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BC8B52-26AD-4263-4458-B7EDD4DB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38783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Check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7FD33A-603C-2DB7-FBEF-1A5E82F9A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249499"/>
              </p:ext>
            </p:extLst>
          </p:nvPr>
        </p:nvGraphicFramePr>
        <p:xfrm>
          <a:off x="839259" y="1778634"/>
          <a:ext cx="10514501" cy="3321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756">
                  <a:extLst>
                    <a:ext uri="{9D8B030D-6E8A-4147-A177-3AD203B41FA5}">
                      <a16:colId xmlns:a16="http://schemas.microsoft.com/office/drawing/2014/main" val="3379832835"/>
                    </a:ext>
                  </a:extLst>
                </a:gridCol>
                <a:gridCol w="2045140">
                  <a:extLst>
                    <a:ext uri="{9D8B030D-6E8A-4147-A177-3AD203B41FA5}">
                      <a16:colId xmlns:a16="http://schemas.microsoft.com/office/drawing/2014/main" val="1031752385"/>
                    </a:ext>
                  </a:extLst>
                </a:gridCol>
                <a:gridCol w="3445984">
                  <a:extLst>
                    <a:ext uri="{9D8B030D-6E8A-4147-A177-3AD203B41FA5}">
                      <a16:colId xmlns:a16="http://schemas.microsoft.com/office/drawing/2014/main" val="4045929110"/>
                    </a:ext>
                  </a:extLst>
                </a:gridCol>
                <a:gridCol w="941451">
                  <a:extLst>
                    <a:ext uri="{9D8B030D-6E8A-4147-A177-3AD203B41FA5}">
                      <a16:colId xmlns:a16="http://schemas.microsoft.com/office/drawing/2014/main" val="1553128571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1093142794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2131381467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316469134"/>
                    </a:ext>
                  </a:extLst>
                </a:gridCol>
              </a:tblGrid>
              <a:tr h="60004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Acceptable</a:t>
                      </a:r>
                    </a:p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PDR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CDR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23936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Pointing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accurately the attitude and control can be </a:t>
                      </a:r>
                      <a:r>
                        <a:rPr lang="en-US" sz="1200" err="1"/>
                        <a:t>maintainted</a:t>
                      </a:r>
                      <a:r>
                        <a:rPr lang="en-US" sz="1200"/>
                        <a:t> in a desired 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 to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0.8662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0.8662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95861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Rotating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accurately the </a:t>
                      </a:r>
                      <a:r>
                        <a:rPr lang="en-US" sz="1200" err="1"/>
                        <a:t>cubesat</a:t>
                      </a:r>
                      <a:r>
                        <a:rPr lang="en-US" sz="1200"/>
                        <a:t> is able to rotate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mrad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 to 1</a:t>
                      </a:r>
                      <a:endParaRPr lang="en-US" sz="12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1492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Power 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power is required for the entire subsystem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Watts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&lt;13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025305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Operational Temp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Temperature range for the components to operate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-40 to 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508314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Budget for the Control Subsystem</a:t>
                      </a:r>
                      <a:endParaRPr lang="en-US" sz="12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&lt;1500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1013.54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1013.54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338450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Angular Velocity (Rotating)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fast </a:t>
                      </a:r>
                      <a:r>
                        <a:rPr lang="en-US" sz="1200" err="1"/>
                        <a:t>cubesat</a:t>
                      </a:r>
                      <a:r>
                        <a:rPr lang="en-US" sz="1200"/>
                        <a:t> will need to move to complete rotation to take picture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rad/s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0.01 to 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0.0183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53314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739FE-1D45-9444-EB2A-5051B136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35840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F443-552D-5617-2ACA-04BE59F3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2AB3F-DA63-F0BE-1A70-2E8906893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29" y="1295400"/>
            <a:ext cx="3531610" cy="14440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Required program:</a:t>
            </a:r>
          </a:p>
          <a:p>
            <a:r>
              <a:rPr lang="en-US" sz="1800" err="1"/>
              <a:t>Onshape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C644F39-0BE6-C82D-D117-F6B8F5128E25}"/>
              </a:ext>
            </a:extLst>
          </p:cNvPr>
          <p:cNvSpPr>
            <a:spLocks noGrp="1"/>
          </p:cNvSpPr>
          <p:nvPr/>
        </p:nvSpPr>
        <p:spPr>
          <a:xfrm>
            <a:off x="1723465" y="1825624"/>
            <a:ext cx="10515600" cy="44999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C405C-947A-24A6-A594-A86D723BA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111" y="361950"/>
            <a:ext cx="6978084" cy="59340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98B06C-E4E5-AA77-4378-15A788F2B9EC}"/>
              </a:ext>
            </a:extLst>
          </p:cNvPr>
          <p:cNvCxnSpPr/>
          <p:nvPr/>
        </p:nvCxnSpPr>
        <p:spPr>
          <a:xfrm flipH="1">
            <a:off x="9600640" y="2438400"/>
            <a:ext cx="771525" cy="5238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738006-E246-4673-5CE7-AE6AAF186272}"/>
              </a:ext>
            </a:extLst>
          </p:cNvPr>
          <p:cNvCxnSpPr>
            <a:cxnSpLocks/>
          </p:cNvCxnSpPr>
          <p:nvPr/>
        </p:nvCxnSpPr>
        <p:spPr>
          <a:xfrm flipV="1">
            <a:off x="6362140" y="3133725"/>
            <a:ext cx="12382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0C96BE-1971-4A0D-BFC6-FB12E867BAC7}"/>
              </a:ext>
            </a:extLst>
          </p:cNvPr>
          <p:cNvCxnSpPr>
            <a:cxnSpLocks/>
          </p:cNvCxnSpPr>
          <p:nvPr/>
        </p:nvCxnSpPr>
        <p:spPr>
          <a:xfrm flipV="1">
            <a:off x="6466915" y="3667125"/>
            <a:ext cx="1181100" cy="428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722D7E-A677-89D9-0A03-0B180B1271AA}"/>
              </a:ext>
            </a:extLst>
          </p:cNvPr>
          <p:cNvCxnSpPr>
            <a:cxnSpLocks/>
          </p:cNvCxnSpPr>
          <p:nvPr/>
        </p:nvCxnSpPr>
        <p:spPr>
          <a:xfrm flipV="1">
            <a:off x="7086040" y="1381125"/>
            <a:ext cx="1181100" cy="428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9">
            <a:extLst>
              <a:ext uri="{FF2B5EF4-FFF2-40B4-BE49-F238E27FC236}">
                <a16:creationId xmlns:a16="http://schemas.microsoft.com/office/drawing/2014/main" id="{A70B1927-2D8C-2EB5-B07A-0E0D2EF39A31}"/>
              </a:ext>
            </a:extLst>
          </p:cNvPr>
          <p:cNvSpPr txBox="1"/>
          <p:nvPr/>
        </p:nvSpPr>
        <p:spPr>
          <a:xfrm>
            <a:off x="5343871" y="2809875"/>
            <a:ext cx="1089932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Control Board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AD6C5E-B632-8FE2-47B4-E44BAC5B02E9}"/>
              </a:ext>
            </a:extLst>
          </p:cNvPr>
          <p:cNvSpPr txBox="1"/>
          <p:nvPr/>
        </p:nvSpPr>
        <p:spPr>
          <a:xfrm>
            <a:off x="5667721" y="1638300"/>
            <a:ext cx="152808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Star Tracker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580D0-C934-D88D-4855-109AD82BEB81}"/>
              </a:ext>
            </a:extLst>
          </p:cNvPr>
          <p:cNvSpPr txBox="1"/>
          <p:nvPr/>
        </p:nvSpPr>
        <p:spPr>
          <a:xfrm>
            <a:off x="4553296" y="4000500"/>
            <a:ext cx="187098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Reaction Wheels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5E712-440F-F33A-9439-6BA9173A5C39}"/>
              </a:ext>
            </a:extLst>
          </p:cNvPr>
          <p:cNvSpPr txBox="1"/>
          <p:nvPr/>
        </p:nvSpPr>
        <p:spPr>
          <a:xfrm>
            <a:off x="9533750" y="1597399"/>
            <a:ext cx="1909082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Magnetorquers x4</a:t>
            </a:r>
          </a:p>
          <a:p>
            <a:r>
              <a:rPr lang="en-US">
                <a:cs typeface="Calibri"/>
              </a:rPr>
              <a:t>Sun Sensor x4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D4AD7-BBD6-500C-8262-BA83F4D0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87" y="273424"/>
            <a:ext cx="8596668" cy="1320800"/>
          </a:xfrm>
        </p:spPr>
        <p:txBody>
          <a:bodyPr/>
          <a:lstStyle/>
          <a:p>
            <a:r>
              <a:rPr lang="en-US"/>
              <a:t>Mechanical System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1E244-BBBF-48B8-048B-8D8E6DC5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1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chine&#10;&#10;Description automatically generated">
            <a:extLst>
              <a:ext uri="{FF2B5EF4-FFF2-40B4-BE49-F238E27FC236}">
                <a16:creationId xmlns:a16="http://schemas.microsoft.com/office/drawing/2014/main" id="{F81CDE84-CAFB-E2C1-0F8E-7E0F7905A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75" y="0"/>
            <a:ext cx="5622298" cy="67204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Assembly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B0FB-2CF6-4AE0-8331-AED94AC4D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159" y="2905125"/>
            <a:ext cx="6920268" cy="48926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/>
              <a:t>This is how our assembly is going to get put together</a:t>
            </a:r>
          </a:p>
          <a:p>
            <a:pPr marL="285750" indent="-285750"/>
            <a:r>
              <a:rPr lang="en-US"/>
              <a:t>Four reaction wheels mounted to the pyramid base</a:t>
            </a:r>
          </a:p>
          <a:p>
            <a:pPr marL="685800" lvl="1"/>
            <a:r>
              <a:rPr lang="en-US"/>
              <a:t>16 bolts and 16 washers are attached to the reaction wheels through the 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2BAE6-FEB0-E0EA-1696-0F0606C7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1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3D7F-B7AF-BFCE-4D28-F20C46E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9FA8-1577-F946-4DA4-701BCBC8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Electrical System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7CA92-28D9-0878-CCF6-5F891BBA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917888"/>
            <a:ext cx="8596668" cy="16607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Everything will be soldered onto the board</a:t>
            </a:r>
          </a:p>
          <a:p>
            <a:pPr marL="0" indent="0">
              <a:buNone/>
            </a:pPr>
            <a:r>
              <a:rPr lang="en-US"/>
              <a:t>PCB will plug into the CubeSat frame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diagram of a control system&#10;&#10;Description automatically generated">
            <a:extLst>
              <a:ext uri="{FF2B5EF4-FFF2-40B4-BE49-F238E27FC236}">
                <a16:creationId xmlns:a16="http://schemas.microsoft.com/office/drawing/2014/main" id="{040C356B-BE3F-B30F-3898-94EB5EFD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55" y="1278208"/>
            <a:ext cx="5351368" cy="2872627"/>
          </a:xfrm>
          <a:prstGeom prst="rect">
            <a:avLst/>
          </a:prstGeom>
        </p:spPr>
      </p:pic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EC8C3A13-E7EE-7E6F-C4EB-54421CFBC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703" y="300218"/>
            <a:ext cx="4657725" cy="326707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D064E-69B1-6D3D-8367-9C87A5E5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20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1DAE-7FE5-291F-7EDF-4A99CA4C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Electronic Component Spec Sheet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BCF4CF-E109-3AAE-80BE-F8698EDAE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570991"/>
              </p:ext>
            </p:extLst>
          </p:nvPr>
        </p:nvGraphicFramePr>
        <p:xfrm>
          <a:off x="804333" y="1481667"/>
          <a:ext cx="10291665" cy="5084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814">
                  <a:extLst>
                    <a:ext uri="{9D8B030D-6E8A-4147-A177-3AD203B41FA5}">
                      <a16:colId xmlns:a16="http://schemas.microsoft.com/office/drawing/2014/main" val="1678490877"/>
                    </a:ext>
                  </a:extLst>
                </a:gridCol>
                <a:gridCol w="1493664">
                  <a:extLst>
                    <a:ext uri="{9D8B030D-6E8A-4147-A177-3AD203B41FA5}">
                      <a16:colId xmlns:a16="http://schemas.microsoft.com/office/drawing/2014/main" val="2796897845"/>
                    </a:ext>
                  </a:extLst>
                </a:gridCol>
                <a:gridCol w="1894263">
                  <a:extLst>
                    <a:ext uri="{9D8B030D-6E8A-4147-A177-3AD203B41FA5}">
                      <a16:colId xmlns:a16="http://schemas.microsoft.com/office/drawing/2014/main" val="268705042"/>
                    </a:ext>
                  </a:extLst>
                </a:gridCol>
                <a:gridCol w="1093066">
                  <a:extLst>
                    <a:ext uri="{9D8B030D-6E8A-4147-A177-3AD203B41FA5}">
                      <a16:colId xmlns:a16="http://schemas.microsoft.com/office/drawing/2014/main" val="2775332923"/>
                    </a:ext>
                  </a:extLst>
                </a:gridCol>
                <a:gridCol w="1745944">
                  <a:extLst>
                    <a:ext uri="{9D8B030D-6E8A-4147-A177-3AD203B41FA5}">
                      <a16:colId xmlns:a16="http://schemas.microsoft.com/office/drawing/2014/main" val="4035123348"/>
                    </a:ext>
                  </a:extLst>
                </a:gridCol>
                <a:gridCol w="2015914">
                  <a:extLst>
                    <a:ext uri="{9D8B030D-6E8A-4147-A177-3AD203B41FA5}">
                      <a16:colId xmlns:a16="http://schemas.microsoft.com/office/drawing/2014/main" val="1633136912"/>
                    </a:ext>
                  </a:extLst>
                </a:gridCol>
              </a:tblGrid>
              <a:tr h="918263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rebuchet MS"/>
                        </a:rPr>
                        <a:t>Max Power (W*h/orbit)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Planned Power (W*h/orbit)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Voltage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 (</a:t>
                      </a:r>
                      <a:r>
                        <a:rPr lang="en-US" sz="1800" b="0" i="0" u="none" strike="noStrike" noProof="0" err="1">
                          <a:latin typeface="Trebuchet MS"/>
                        </a:rPr>
                        <a:t>μA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Allowable Temp (°C)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25446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Sun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0.0008925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-40 to +110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570723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Star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-10 to +55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004579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Magnetometer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0.001377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-40 to +85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89698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0.2805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0.002145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-40 to +85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361561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Microcontroller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0.5022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-40 to +85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438168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DC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1.1*10^6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35588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Motor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-40 to +125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191439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Magnetorquer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0.00139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55.6*10^-6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-50 to +90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1299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7F92B7-13EE-626A-63A5-358504EF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87" y="6489037"/>
            <a:ext cx="683339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44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7C65D-5B39-B5F2-1F62-964AB0A3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AD0F-5683-78E5-3E73-48AFAD29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System Review</a:t>
            </a:r>
          </a:p>
        </p:txBody>
      </p:sp>
      <p:pic>
        <p:nvPicPr>
          <p:cNvPr id="6" name="Picture 5" descr="A diagram of a machine&#10;&#10;Description automatically generated">
            <a:extLst>
              <a:ext uri="{FF2B5EF4-FFF2-40B4-BE49-F238E27FC236}">
                <a16:creationId xmlns:a16="http://schemas.microsoft.com/office/drawing/2014/main" id="{1C187164-AFFC-A576-09A0-76F06D9E7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11" y="3005586"/>
            <a:ext cx="6847756" cy="2856064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02CDAFE5-1176-072F-FEA7-604630BA1D7A}"/>
              </a:ext>
            </a:extLst>
          </p:cNvPr>
          <p:cNvSpPr txBox="1"/>
          <p:nvPr/>
        </p:nvSpPr>
        <p:spPr>
          <a:xfrm>
            <a:off x="4876456" y="3554507"/>
            <a:ext cx="1607733" cy="338554"/>
          </a:xfrm>
          <a:prstGeom prst="rect">
            <a:avLst/>
          </a:prstGeom>
          <a:solidFill>
            <a:srgbClr val="CFE2F3"/>
          </a:solidFill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cs typeface="Calibri"/>
              </a:rPr>
              <a:t>CubeSat</a:t>
            </a:r>
            <a:endParaRPr lang="en-US" sz="16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2068A-BA50-7D8E-70A6-7C9105C2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78F30-B982-0687-C611-A07273BD5071}"/>
              </a:ext>
            </a:extLst>
          </p:cNvPr>
          <p:cNvSpPr txBox="1"/>
          <p:nvPr/>
        </p:nvSpPr>
        <p:spPr>
          <a:xfrm>
            <a:off x="941964" y="1554101"/>
            <a:ext cx="68466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Code simulation created in Matlab </a:t>
            </a:r>
          </a:p>
          <a:p>
            <a:r>
              <a:rPr lang="en-US"/>
              <a:t>Will be used as a reference when Rust code is written</a:t>
            </a:r>
          </a:p>
        </p:txBody>
      </p:sp>
    </p:spTree>
    <p:extLst>
      <p:ext uri="{BB962C8B-B14F-4D97-AF65-F5344CB8AC3E}">
        <p14:creationId xmlns:p14="http://schemas.microsoft.com/office/powerpoint/2010/main" val="364256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0B3C-9E75-506C-BFCC-9D3F3CE50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BDACD3-6AFE-C884-18DD-18C532F6C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80489"/>
              </p:ext>
            </p:extLst>
          </p:nvPr>
        </p:nvGraphicFramePr>
        <p:xfrm>
          <a:off x="907676" y="1266264"/>
          <a:ext cx="9433129" cy="5189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70">
                  <a:extLst>
                    <a:ext uri="{9D8B030D-6E8A-4147-A177-3AD203B41FA5}">
                      <a16:colId xmlns:a16="http://schemas.microsoft.com/office/drawing/2014/main" val="2381793185"/>
                    </a:ext>
                  </a:extLst>
                </a:gridCol>
                <a:gridCol w="4726659">
                  <a:extLst>
                    <a:ext uri="{9D8B030D-6E8A-4147-A177-3AD203B41FA5}">
                      <a16:colId xmlns:a16="http://schemas.microsoft.com/office/drawing/2014/main" val="474604509"/>
                    </a:ext>
                  </a:extLst>
                </a:gridCol>
              </a:tblGrid>
              <a:tr h="927646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Components being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220423"/>
                  </a:ext>
                </a:extLst>
              </a:tr>
              <a:tr h="574301">
                <a:tc>
                  <a:txBody>
                    <a:bodyPr/>
                    <a:lstStyle/>
                    <a:p>
                      <a:r>
                        <a:rPr lang="en-US"/>
                        <a:t>Hang by fishing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Actuators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159659"/>
                  </a:ext>
                </a:extLst>
              </a:tr>
              <a:tr h="490257">
                <a:tc>
                  <a:txBody>
                    <a:bodyPr/>
                    <a:lstStyle/>
                    <a:p>
                      <a:r>
                        <a:rPr lang="en-US"/>
                        <a:t>Hold in hand and move it around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IMU and magnetometer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56782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r>
                        <a:rPr lang="en-US"/>
                        <a:t>Project stars and check star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Star tracker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683395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Temperature cycling test, –25 to 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Entire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78231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Bakeout at 100 C for 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Entire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725048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Random vibration test at 100 </a:t>
                      </a:r>
                      <a:r>
                        <a:rPr lang="en-US" err="1"/>
                        <a:t>Grms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Entire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942532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Hold up to 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Sun sensors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02968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Run simulation on Matlab with noise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Control algorithm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6932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185C24-34B8-C46E-D5AA-ED29CC0B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8188" y="6489037"/>
            <a:ext cx="683339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0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0F7F-089F-7D06-09A2-68D2981D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Analysis Results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2CBA9-4727-E9AF-5ACA-DFDB7497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11</a:t>
            </a:r>
          </a:p>
        </p:txBody>
      </p:sp>
      <p:pic>
        <p:nvPicPr>
          <p:cNvPr id="3" name="Picture 2" descr="A collage of graphs&#10;&#10;AI-generated content may be incorrect.">
            <a:extLst>
              <a:ext uri="{FF2B5EF4-FFF2-40B4-BE49-F238E27FC236}">
                <a16:creationId xmlns:a16="http://schemas.microsoft.com/office/drawing/2014/main" id="{879ACE69-1028-5590-033C-F76EAFCC2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60" y="1432606"/>
            <a:ext cx="6210300" cy="4791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3DE9DD-FE35-6C6D-03E9-8B6BC044C90F}"/>
              </a:ext>
            </a:extLst>
          </p:cNvPr>
          <p:cNvSpPr txBox="1"/>
          <p:nvPr/>
        </p:nvSpPr>
        <p:spPr>
          <a:xfrm>
            <a:off x="7389336" y="2137061"/>
            <a:ext cx="3082755" cy="2585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main graphs we are looking at are q1-q4 which are the 4 quaternions. Red is the reference (where it is trying to go to). Blue is where it actually is and green is the prediction. </a:t>
            </a:r>
          </a:p>
          <a:p>
            <a:endParaRPr lang="en-US" dirty="0"/>
          </a:p>
          <a:p>
            <a:r>
              <a:rPr lang="en-US" dirty="0"/>
              <a:t>Time is in seconds.</a:t>
            </a:r>
          </a:p>
        </p:txBody>
      </p:sp>
    </p:spTree>
    <p:extLst>
      <p:ext uri="{BB962C8B-B14F-4D97-AF65-F5344CB8AC3E}">
        <p14:creationId xmlns:p14="http://schemas.microsoft.com/office/powerpoint/2010/main" val="1295894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6EB4-8701-22BF-3374-019DDCFF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D142-8232-32A1-94EC-94C16AEAD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Fabrication Plan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6072F7-EA53-1D8B-E7E8-ABC9B8D19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90438"/>
              </p:ext>
            </p:extLst>
          </p:nvPr>
        </p:nvGraphicFramePr>
        <p:xfrm>
          <a:off x="677334" y="1710384"/>
          <a:ext cx="10488506" cy="104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509">
                  <a:extLst>
                    <a:ext uri="{9D8B030D-6E8A-4147-A177-3AD203B41FA5}">
                      <a16:colId xmlns:a16="http://schemas.microsoft.com/office/drawing/2014/main" val="1031752385"/>
                    </a:ext>
                  </a:extLst>
                </a:gridCol>
                <a:gridCol w="3051437">
                  <a:extLst>
                    <a:ext uri="{9D8B030D-6E8A-4147-A177-3AD203B41FA5}">
                      <a16:colId xmlns:a16="http://schemas.microsoft.com/office/drawing/2014/main" val="4045929110"/>
                    </a:ext>
                  </a:extLst>
                </a:gridCol>
                <a:gridCol w="2153920">
                  <a:extLst>
                    <a:ext uri="{9D8B030D-6E8A-4147-A177-3AD203B41FA5}">
                      <a16:colId xmlns:a16="http://schemas.microsoft.com/office/drawing/2014/main" val="3934223036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131381467"/>
                    </a:ext>
                  </a:extLst>
                </a:gridCol>
              </a:tblGrid>
              <a:tr h="59070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Custom 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Process(es) Required</a:t>
                      </a:r>
                    </a:p>
                    <a:p>
                      <a:pPr algn="ctr"/>
                      <a:r>
                        <a:rPr lang="en-US" sz="1200"/>
                        <a:t>for Fabrication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Link</a:t>
                      </a:r>
                    </a:p>
                    <a:p>
                      <a:pPr algn="ctr"/>
                      <a:r>
                        <a:rPr lang="en-US" sz="1200"/>
                        <a:t>to 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Costs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23936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Reaction Wheel 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CNC Mill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hlinkClick r:id="rId3"/>
                        </a:rPr>
                        <a:t>OnShape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Tooling - $150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200"/>
                        <a:t>6061 Aluminum Block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95861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5410BAF9-6997-607D-0A91-AD392A471C15}"/>
              </a:ext>
            </a:extLst>
          </p:cNvPr>
          <p:cNvSpPr txBox="1">
            <a:spLocks/>
          </p:cNvSpPr>
          <p:nvPr/>
        </p:nvSpPr>
        <p:spPr>
          <a:xfrm>
            <a:off x="542187" y="3436189"/>
            <a:ext cx="8596668" cy="7600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Tooling Requirements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01263-0183-266C-5A42-176C1738F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38" y="4691004"/>
            <a:ext cx="8596668" cy="1103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will need to purchase an angle cutter for the CNC to make our motor mount. Utah Tech has the rest of the tooling we need.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9C08A2-A5A2-D1B8-79F1-E23F697D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30402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7285-575D-707E-82CD-66643141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(Allocated 1kg)</a:t>
            </a:r>
          </a:p>
        </p:txBody>
      </p:sp>
      <p:pic>
        <p:nvPicPr>
          <p:cNvPr id="4" name="Picture 3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86F4035E-67D3-3BFA-395A-7D9E9F09E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34" y="2177022"/>
            <a:ext cx="11449050" cy="34004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45728-5874-0184-CCF3-06DC2D7A0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63018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Budget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C644F39-0BE6-C82D-D117-F6B8F5128E25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3133725" cy="8461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2060"/>
                </a:solidFill>
                <a:ea typeface="Calibri"/>
                <a:cs typeface="Calibri"/>
                <a:hlinkClick r:id="rId3"/>
              </a:rPr>
              <a:t>Budget:</a:t>
            </a:r>
            <a:r>
              <a:rPr lang="en-US">
                <a:solidFill>
                  <a:srgbClr val="002060"/>
                </a:solidFill>
                <a:ea typeface="Calibri"/>
                <a:cs typeface="Calibri"/>
              </a:rPr>
              <a:t> $1500</a:t>
            </a:r>
            <a:endParaRPr lang="en-US">
              <a:solidFill>
                <a:srgbClr val="002060"/>
              </a:solidFill>
            </a:endParaRPr>
          </a:p>
          <a:p>
            <a:r>
              <a:rPr lang="en-US">
                <a:solidFill>
                  <a:srgbClr val="002060"/>
                </a:solidFill>
                <a:cs typeface="Calibri"/>
                <a:hlinkClick r:id="rId4"/>
              </a:rPr>
              <a:t>Bill of Materials</a:t>
            </a:r>
            <a:endParaRPr lang="en-US">
              <a:solidFill>
                <a:srgbClr val="002060"/>
              </a:solidFill>
              <a:cs typeface="Calibri"/>
            </a:endParaRPr>
          </a:p>
          <a:p>
            <a:pPr lvl="1"/>
            <a:endParaRPr lang="en-US">
              <a:solidFill>
                <a:srgbClr val="002060"/>
              </a:solidFill>
              <a:cs typeface="Calibri"/>
            </a:endParaRPr>
          </a:p>
          <a:p>
            <a:endParaRPr lang="en-US">
              <a:solidFill>
                <a:srgbClr val="002060"/>
              </a:solidFill>
              <a:cs typeface="Calibri"/>
            </a:endParaRPr>
          </a:p>
        </p:txBody>
      </p:sp>
      <p:pic>
        <p:nvPicPr>
          <p:cNvPr id="6" name="Picture 5" descr="A screenshot of a spreadsheet&#10;&#10;Description automatically generated">
            <a:extLst>
              <a:ext uri="{FF2B5EF4-FFF2-40B4-BE49-F238E27FC236}">
                <a16:creationId xmlns:a16="http://schemas.microsoft.com/office/drawing/2014/main" id="{70DD270C-2A60-835B-C3EC-BFC1E0D3D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161" y="607443"/>
            <a:ext cx="5198622" cy="57531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2C2AEB-D6A6-3597-928D-CA349B69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4413" y="6489037"/>
            <a:ext cx="683339" cy="365125"/>
          </a:xfrm>
        </p:spPr>
        <p:txBody>
          <a:bodyPr/>
          <a:lstStyle/>
          <a:p>
            <a:r>
              <a:rPr lang="en-US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05359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C644F39-0BE6-C82D-D117-F6B8F5128E25}"/>
              </a:ext>
            </a:extLst>
          </p:cNvPr>
          <p:cNvSpPr>
            <a:spLocks noGrp="1"/>
          </p:cNvSpPr>
          <p:nvPr/>
        </p:nvSpPr>
        <p:spPr>
          <a:xfrm>
            <a:off x="680050" y="1718327"/>
            <a:ext cx="4707946" cy="827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2060"/>
                </a:solidFill>
                <a:cs typeface="Calibri"/>
                <a:hlinkClick r:id="rId3"/>
              </a:rPr>
              <a:t>Control Gannt Chart</a:t>
            </a:r>
            <a:endParaRPr lang="en-US">
              <a:solidFill>
                <a:srgbClr val="002060"/>
              </a:solidFill>
              <a:hlinkClick r:id="rId3"/>
            </a:endParaRPr>
          </a:p>
          <a:p>
            <a:pPr lvl="1"/>
            <a:endParaRPr lang="en-US" sz="1400">
              <a:solidFill>
                <a:srgbClr val="222222"/>
              </a:solidFill>
              <a:ea typeface="Calibri"/>
              <a:cs typeface="Calibri" panose="020F0502020204030204"/>
            </a:endParaRPr>
          </a:p>
          <a:p>
            <a:pPr lvl="1"/>
            <a:endParaRPr lang="en-US">
              <a:solidFill>
                <a:srgbClr val="002060"/>
              </a:solidFill>
              <a:cs typeface="Calibri" panose="020F0502020204030204"/>
            </a:endParaRPr>
          </a:p>
          <a:p>
            <a:pPr lvl="1"/>
            <a:endParaRPr lang="en-US">
              <a:solidFill>
                <a:srgbClr val="002060"/>
              </a:solidFill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0CD44-2D48-FFB2-9A24-DBCA77A8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9613" y="6479512"/>
            <a:ext cx="683339" cy="365125"/>
          </a:xfrm>
        </p:spPr>
        <p:txBody>
          <a:bodyPr/>
          <a:lstStyle/>
          <a:p>
            <a:r>
              <a:rPr lang="en-US"/>
              <a:t>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47278-54A9-959C-45A8-8DF8719C2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938" y="347663"/>
            <a:ext cx="47148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31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E9B295-1B6F-425D-B212-4C66CE0D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6450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6600"/>
              <a:t>Questions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07E243-8E62-5394-EE96-B27CE6F0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2534527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UtahTech">
      <a:dk1>
        <a:sysClr val="windowText" lastClr="000000"/>
      </a:dk1>
      <a:lt1>
        <a:sysClr val="window" lastClr="FFFFFF"/>
      </a:lt1>
      <a:dk2>
        <a:srgbClr val="BA1C21"/>
      </a:dk2>
      <a:lt2>
        <a:srgbClr val="EBEBEB"/>
      </a:lt2>
      <a:accent1>
        <a:srgbClr val="003058"/>
      </a:accent1>
      <a:accent2>
        <a:srgbClr val="BA1C21"/>
      </a:accent2>
      <a:accent3>
        <a:srgbClr val="BA1C21"/>
      </a:accent3>
      <a:accent4>
        <a:srgbClr val="BA1C21"/>
      </a:accent4>
      <a:accent5>
        <a:srgbClr val="BA1C21"/>
      </a:accent5>
      <a:accent6>
        <a:srgbClr val="BA1C21"/>
      </a:accent6>
      <a:hlink>
        <a:srgbClr val="BA1C21"/>
      </a:hlink>
      <a:folHlink>
        <a:srgbClr val="BA1C2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1382ff-e895-4226-9b8b-208a50023ada" xsi:nil="true"/>
    <lcf76f155ced4ddcb4097134ff3c332f xmlns="a5dae947-98e5-495e-bab1-cc2a6059ad3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5247A15C38DE40A573999B6070A975" ma:contentTypeVersion="11" ma:contentTypeDescription="Create a new document." ma:contentTypeScope="" ma:versionID="afb66a0050ffe63c0caaf523038e8bbd">
  <xsd:schema xmlns:xsd="http://www.w3.org/2001/XMLSchema" xmlns:xs="http://www.w3.org/2001/XMLSchema" xmlns:p="http://schemas.microsoft.com/office/2006/metadata/properties" xmlns:ns2="a5dae947-98e5-495e-bab1-cc2a6059ad3b" xmlns:ns3="101382ff-e895-4226-9b8b-208a50023ada" targetNamespace="http://schemas.microsoft.com/office/2006/metadata/properties" ma:root="true" ma:fieldsID="34e31e9107cc25fa3e8a352dd8873f5d" ns2:_="" ns3:_="">
    <xsd:import namespace="a5dae947-98e5-495e-bab1-cc2a6059ad3b"/>
    <xsd:import namespace="101382ff-e895-4226-9b8b-208a50023a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ae947-98e5-495e-bab1-cc2a6059a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cab841-b377-4e82-87b7-c4480f2663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1382ff-e895-4226-9b8b-208a50023ad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cad34b7-b5d1-438c-95c5-dcc7e7eb8d6f}" ma:internalName="TaxCatchAll" ma:showField="CatchAllData" ma:web="101382ff-e895-4226-9b8b-208a50023a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A9F3B3-60A6-4664-A1BF-7F34141BDC87}">
  <ds:schemaRefs>
    <ds:schemaRef ds:uri="0f8de707-1dbb-4092-ba38-d30ed97f1124"/>
    <ds:schemaRef ds:uri="9794a001-1d29-4107-b2cf-0763ac5084c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86B1AA2-BC78-45B3-805A-A70E2277D7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B5D7A4-408C-4EC6-B56E-240AED3AB7E3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1220</Words>
  <Application>Microsoft Office PowerPoint</Application>
  <PresentationFormat>Widescreen</PresentationFormat>
  <Paragraphs>325</Paragraphs>
  <Slides>18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Facet</vt:lpstr>
      <vt:lpstr>PowerPoint Presentation</vt:lpstr>
      <vt:lpstr>Overview</vt:lpstr>
      <vt:lpstr>Design Statement</vt:lpstr>
      <vt:lpstr>Design Requirements </vt:lpstr>
      <vt:lpstr>Metrics Check</vt:lpstr>
      <vt:lpstr>Metrics Check</vt:lpstr>
      <vt:lpstr>Mechanical System Review</vt:lpstr>
      <vt:lpstr>Assembly Plan</vt:lpstr>
      <vt:lpstr>Electrical System Review</vt:lpstr>
      <vt:lpstr>Electronic Component Spec Sheet</vt:lpstr>
      <vt:lpstr>Software System Review</vt:lpstr>
      <vt:lpstr>Testing</vt:lpstr>
      <vt:lpstr>Control Analysis Results </vt:lpstr>
      <vt:lpstr>Fabrication Plan</vt:lpstr>
      <vt:lpstr>Weight (Allocated 1kg)</vt:lpstr>
      <vt:lpstr>Budget</vt:lpstr>
      <vt:lpstr>Schedule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</cp:revision>
  <dcterms:created xsi:type="dcterms:W3CDTF">2021-10-05T18:11:42Z</dcterms:created>
  <dcterms:modified xsi:type="dcterms:W3CDTF">2025-04-09T22:23:46Z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0x010100215247A15C38DE40A573999B6070A975</vt:lpwstr>
  </property>
</Properties>
</file>