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22" r:id="rId4"/>
  </p:sldMasterIdLst>
  <p:notesMasterIdLst>
    <p:notesMasterId r:id="rId20"/>
  </p:notesMasterIdLst>
  <p:sldIdLst>
    <p:sldId id="284" r:id="rId5"/>
    <p:sldId id="283" r:id="rId6"/>
    <p:sldId id="265" r:id="rId7"/>
    <p:sldId id="285" r:id="rId8"/>
    <p:sldId id="286" r:id="rId9"/>
    <p:sldId id="295" r:id="rId10"/>
    <p:sldId id="296" r:id="rId11"/>
    <p:sldId id="297" r:id="rId12"/>
    <p:sldId id="289" r:id="rId13"/>
    <p:sldId id="288" r:id="rId14"/>
    <p:sldId id="290" r:id="rId15"/>
    <p:sldId id="292" r:id="rId16"/>
    <p:sldId id="293" r:id="rId17"/>
    <p:sldId id="294" r:id="rId18"/>
    <p:sldId id="267"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1C21"/>
    <a:srgbClr val="003058"/>
    <a:srgbClr val="344529"/>
    <a:srgbClr val="2B3922"/>
    <a:srgbClr val="2E3722"/>
    <a:srgbClr val="FCF7F1"/>
    <a:srgbClr val="B8D233"/>
    <a:srgbClr val="5CC6D6"/>
    <a:srgbClr val="F8D22F"/>
    <a:srgbClr val="F03F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85F7A9-C831-4245-A392-4BBED529955B}" v="4" dt="2024-09-04T20:51:41.174"/>
    <p1510:client id="{4299502A-C8A6-4A7A-8E20-5CCE7C5F236F}" v="83" dt="2024-09-04T19:42:40.915"/>
    <p1510:client id="{8E4445CA-4BDE-415E-9541-E090543FD527}" v="46" dt="2024-09-06T19:34:58.119"/>
    <p1510:client id="{E8350FAA-9AB4-4BA8-8EBB-0572DA87A583}" v="317" dt="2024-09-04T20:36:44.0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469" autoAdjust="0"/>
    <p:restoredTop sz="87530" autoAdjust="0"/>
  </p:normalViewPr>
  <p:slideViewPr>
    <p:cSldViewPr snapToGrid="0">
      <p:cViewPr varScale="1">
        <p:scale>
          <a:sx n="94" d="100"/>
          <a:sy n="94" d="100"/>
        </p:scale>
        <p:origin x="72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CD6A13-8751-44E5-A777-2BA6DD2B178C}" type="datetimeFigureOut">
              <a:rPr lang="en-US" smtClean="0"/>
              <a:t>9/6/2024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E22803-933A-464A-BF5A-19638B6C16CC}" type="slidenum">
              <a:rPr lang="en-US" smtClean="0"/>
              <a:t>‹#›</a:t>
            </a:fld>
            <a:endParaRPr lang="en-US"/>
          </a:p>
        </p:txBody>
      </p:sp>
    </p:spTree>
    <p:extLst>
      <p:ext uri="{BB962C8B-B14F-4D97-AF65-F5344CB8AC3E}">
        <p14:creationId xmlns:p14="http://schemas.microsoft.com/office/powerpoint/2010/main" val="3380731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a:t>
            </a:r>
          </a:p>
          <a:p>
            <a:pPr marL="171450" indent="-171450">
              <a:spcBef>
                <a:spcPts val="1000"/>
              </a:spcBef>
              <a:buFont typeface="Arial"/>
              <a:buChar char="•"/>
            </a:pPr>
            <a:r>
              <a:rPr lang="en-US" dirty="0"/>
              <a:t>State who your sponsor is and give a short background.</a:t>
            </a:r>
          </a:p>
          <a:p>
            <a:pPr marL="171450" indent="-171450">
              <a:spcBef>
                <a:spcPts val="1000"/>
              </a:spcBef>
              <a:buFont typeface="Arial"/>
              <a:buChar char="•"/>
            </a:pPr>
            <a:r>
              <a:rPr lang="en-US" dirty="0"/>
              <a:t>Read the design statement verbatim</a:t>
            </a:r>
          </a:p>
          <a:p>
            <a:pPr marL="171450" indent="-171450">
              <a:spcBef>
                <a:spcPts val="1000"/>
              </a:spcBef>
              <a:buFont typeface="Arial"/>
              <a:buChar char="•"/>
            </a:pPr>
            <a:r>
              <a:rPr lang="en-US" dirty="0"/>
              <a:t>Give the 1000-foot view of the project.</a:t>
            </a:r>
          </a:p>
          <a:p>
            <a:pPr marL="171450" indent="-171450">
              <a:buFont typeface="Arial" panose="020B0604020202020204" pitchFamily="34" charset="0"/>
              <a:buChar char="•"/>
            </a:pPr>
            <a:r>
              <a:rPr lang="en-US" dirty="0"/>
              <a:t>List your talking points with details. You will not read from these notes and these notes may contain information that you forget to mention in your presentation.</a:t>
            </a:r>
          </a:p>
          <a:p>
            <a:pPr marL="171450" indent="-171450">
              <a:buFont typeface="Arial" panose="020B0604020202020204" pitchFamily="34" charset="0"/>
              <a:buChar char="•"/>
            </a:pPr>
            <a:r>
              <a:rPr lang="en-US" dirty="0"/>
              <a:t>Everything needs to be in bullet point form and put in presenting order.</a:t>
            </a:r>
          </a:p>
        </p:txBody>
      </p:sp>
      <p:sp>
        <p:nvSpPr>
          <p:cNvPr id="4" name="Slide Number Placeholder 3"/>
          <p:cNvSpPr>
            <a:spLocks noGrp="1"/>
          </p:cNvSpPr>
          <p:nvPr>
            <p:ph type="sldNum" sz="quarter" idx="5"/>
          </p:nvPr>
        </p:nvSpPr>
        <p:spPr/>
        <p:txBody>
          <a:bodyPr/>
          <a:lstStyle/>
          <a:p>
            <a:fld id="{72E22803-933A-464A-BF5A-19638B6C16CC}" type="slidenum">
              <a:rPr lang="en-US" smtClean="0"/>
              <a:t>3</a:t>
            </a:fld>
            <a:endParaRPr lang="en-US"/>
          </a:p>
        </p:txBody>
      </p:sp>
    </p:spTree>
    <p:extLst>
      <p:ext uri="{BB962C8B-B14F-4D97-AF65-F5344CB8AC3E}">
        <p14:creationId xmlns:p14="http://schemas.microsoft.com/office/powerpoint/2010/main" val="812446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a:spcBef>
                <a:spcPts val="1000"/>
              </a:spcBef>
            </a:pPr>
            <a:r>
              <a:rPr lang="en-US" dirty="0"/>
              <a:t>Talking Points:</a:t>
            </a:r>
          </a:p>
          <a:p>
            <a:pPr marL="171450" indent="-171450">
              <a:spcBef>
                <a:spcPts val="1000"/>
              </a:spcBef>
              <a:buFont typeface="Arial" panose="020B0604020202020204" pitchFamily="34" charset="0"/>
              <a:buChar char="•"/>
            </a:pPr>
            <a:r>
              <a:rPr lang="en-US" dirty="0"/>
              <a:t>State your deliverables.</a:t>
            </a:r>
          </a:p>
          <a:p>
            <a:pPr marL="171450" indent="-171450">
              <a:spcBef>
                <a:spcPts val="1000"/>
              </a:spcBef>
              <a:buFont typeface="Arial" panose="020B0604020202020204" pitchFamily="34" charset="0"/>
              <a:buChar char="•"/>
            </a:pPr>
            <a:r>
              <a:rPr lang="en-US" dirty="0"/>
              <a:t>Elaborate on deliverables as needed.</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72E22803-933A-464A-BF5A-19638B6C16CC}" type="slidenum">
              <a:rPr lang="en-US" smtClean="0"/>
              <a:t>4</a:t>
            </a:fld>
            <a:endParaRPr lang="en-US"/>
          </a:p>
        </p:txBody>
      </p:sp>
    </p:spTree>
    <p:extLst>
      <p:ext uri="{BB962C8B-B14F-4D97-AF65-F5344CB8AC3E}">
        <p14:creationId xmlns:p14="http://schemas.microsoft.com/office/powerpoint/2010/main" val="11713313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a:t>
            </a:r>
          </a:p>
          <a:p>
            <a:pPr>
              <a:spcBef>
                <a:spcPts val="1000"/>
              </a:spcBef>
            </a:pPr>
            <a:r>
              <a:rPr lang="en-US"/>
              <a:t>Talking Points:</a:t>
            </a:r>
          </a:p>
          <a:p>
            <a:pPr marL="171450" indent="-171450">
              <a:spcBef>
                <a:spcPts val="1000"/>
              </a:spcBef>
              <a:buFont typeface="Arial" panose="020B0604020202020204" pitchFamily="34" charset="0"/>
              <a:buChar char="•"/>
            </a:pPr>
            <a:r>
              <a:rPr lang="en-US" dirty="0"/>
              <a:t>Internal needs --- needs from the perspective of your sponsor</a:t>
            </a:r>
          </a:p>
          <a:p>
            <a:pPr marL="171450" indent="-171450">
              <a:spcBef>
                <a:spcPts val="1000"/>
              </a:spcBef>
              <a:buFont typeface="Arial" panose="020B0604020202020204" pitchFamily="34" charset="0"/>
              <a:buChar char="•"/>
            </a:pPr>
            <a:r>
              <a:rPr lang="en-US" dirty="0"/>
              <a:t>External needs --- needs from multiple perspectives outside of your sponsor</a:t>
            </a:r>
          </a:p>
          <a:p>
            <a:pPr marL="171450" indent="-171450">
              <a:spcBef>
                <a:spcPts val="1000"/>
              </a:spcBef>
              <a:buFont typeface="Arial" panose="020B0604020202020204" pitchFamily="34" charset="0"/>
              <a:buChar char="•"/>
            </a:pPr>
            <a:r>
              <a:rPr lang="en-US" dirty="0"/>
              <a:t>Why is this product needed?</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72E22803-933A-464A-BF5A-19638B6C16CC}" type="slidenum">
              <a:rPr lang="en-US" smtClean="0"/>
              <a:t>5</a:t>
            </a:fld>
            <a:endParaRPr lang="en-US"/>
          </a:p>
        </p:txBody>
      </p:sp>
    </p:spTree>
    <p:extLst>
      <p:ext uri="{BB962C8B-B14F-4D97-AF65-F5344CB8AC3E}">
        <p14:creationId xmlns:p14="http://schemas.microsoft.com/office/powerpoint/2010/main" val="40519385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000"/>
              </a:spcBef>
            </a:pPr>
            <a:r>
              <a:rPr lang="en-US" dirty="0"/>
              <a:t>Notes:</a:t>
            </a:r>
          </a:p>
          <a:p>
            <a:pPr marL="171450" indent="-171450">
              <a:spcBef>
                <a:spcPts val="1000"/>
              </a:spcBef>
              <a:buFont typeface="Arial"/>
              <a:buChar char="•"/>
            </a:pPr>
            <a:r>
              <a:rPr lang="en-US" dirty="0"/>
              <a:t>Discuss the Objectives of your design</a:t>
            </a:r>
          </a:p>
          <a:p>
            <a:pPr marL="171450" indent="-171450">
              <a:spcBef>
                <a:spcPts val="1000"/>
              </a:spcBef>
              <a:buFont typeface="Arial"/>
              <a:buChar char="•"/>
            </a:pPr>
            <a:r>
              <a:rPr lang="en-US" dirty="0"/>
              <a:t>Discuss the Functions of your design</a:t>
            </a:r>
          </a:p>
          <a:p>
            <a:pPr marL="171450" indent="-171450">
              <a:spcBef>
                <a:spcPts val="1000"/>
              </a:spcBef>
              <a:buFont typeface="Arial"/>
              <a:buChar char="•"/>
            </a:pPr>
            <a:r>
              <a:rPr lang="en-US" dirty="0"/>
              <a:t>Discuss the Constraints placed on your project</a:t>
            </a:r>
          </a:p>
        </p:txBody>
      </p:sp>
      <p:sp>
        <p:nvSpPr>
          <p:cNvPr id="4" name="Slide Number Placeholder 3"/>
          <p:cNvSpPr>
            <a:spLocks noGrp="1"/>
          </p:cNvSpPr>
          <p:nvPr>
            <p:ph type="sldNum" sz="quarter" idx="5"/>
          </p:nvPr>
        </p:nvSpPr>
        <p:spPr/>
        <p:txBody>
          <a:bodyPr/>
          <a:lstStyle/>
          <a:p>
            <a:fld id="{72E22803-933A-464A-BF5A-19638B6C16CC}" type="slidenum">
              <a:rPr lang="en-US" smtClean="0"/>
              <a:t>6</a:t>
            </a:fld>
            <a:endParaRPr lang="en-US"/>
          </a:p>
        </p:txBody>
      </p:sp>
    </p:spTree>
    <p:extLst>
      <p:ext uri="{BB962C8B-B14F-4D97-AF65-F5344CB8AC3E}">
        <p14:creationId xmlns:p14="http://schemas.microsoft.com/office/powerpoint/2010/main" val="24840171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000"/>
              </a:spcBef>
            </a:pPr>
            <a:r>
              <a:rPr lang="en-US" dirty="0"/>
              <a:t>Notes:</a:t>
            </a:r>
          </a:p>
          <a:p>
            <a:pPr marL="171450" indent="-171450">
              <a:spcBef>
                <a:spcPts val="1000"/>
              </a:spcBef>
              <a:buFont typeface="Arial"/>
              <a:buChar char="•"/>
            </a:pPr>
            <a:r>
              <a:rPr lang="en-US" dirty="0"/>
              <a:t>Discuss the Objectives of your design</a:t>
            </a:r>
          </a:p>
          <a:p>
            <a:pPr marL="171450" indent="-171450">
              <a:spcBef>
                <a:spcPts val="1000"/>
              </a:spcBef>
              <a:buFont typeface="Arial"/>
              <a:buChar char="•"/>
            </a:pPr>
            <a:r>
              <a:rPr lang="en-US" dirty="0"/>
              <a:t>Discuss the Functions of your design</a:t>
            </a:r>
          </a:p>
          <a:p>
            <a:pPr marL="171450" indent="-171450">
              <a:spcBef>
                <a:spcPts val="1000"/>
              </a:spcBef>
              <a:buFont typeface="Arial"/>
              <a:buChar char="•"/>
            </a:pPr>
            <a:r>
              <a:rPr lang="en-US" dirty="0"/>
              <a:t>Discuss the Constraints placed on your project</a:t>
            </a:r>
          </a:p>
        </p:txBody>
      </p:sp>
      <p:sp>
        <p:nvSpPr>
          <p:cNvPr id="4" name="Slide Number Placeholder 3"/>
          <p:cNvSpPr>
            <a:spLocks noGrp="1"/>
          </p:cNvSpPr>
          <p:nvPr>
            <p:ph type="sldNum" sz="quarter" idx="5"/>
          </p:nvPr>
        </p:nvSpPr>
        <p:spPr/>
        <p:txBody>
          <a:bodyPr/>
          <a:lstStyle/>
          <a:p>
            <a:fld id="{72E22803-933A-464A-BF5A-19638B6C16CC}" type="slidenum">
              <a:rPr lang="en-US" smtClean="0"/>
              <a:t>7</a:t>
            </a:fld>
            <a:endParaRPr lang="en-US"/>
          </a:p>
        </p:txBody>
      </p:sp>
    </p:spTree>
    <p:extLst>
      <p:ext uri="{BB962C8B-B14F-4D97-AF65-F5344CB8AC3E}">
        <p14:creationId xmlns:p14="http://schemas.microsoft.com/office/powerpoint/2010/main" val="23820675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000"/>
              </a:spcBef>
            </a:pPr>
            <a:r>
              <a:rPr lang="en-US" dirty="0"/>
              <a:t>Notes:</a:t>
            </a:r>
          </a:p>
          <a:p>
            <a:pPr marL="171450" indent="-171450">
              <a:spcBef>
                <a:spcPts val="1000"/>
              </a:spcBef>
              <a:buFont typeface="Arial"/>
              <a:buChar char="•"/>
            </a:pPr>
            <a:r>
              <a:rPr lang="en-US" dirty="0"/>
              <a:t>Discuss the Objectives of your design</a:t>
            </a:r>
          </a:p>
          <a:p>
            <a:pPr marL="171450" indent="-171450">
              <a:spcBef>
                <a:spcPts val="1000"/>
              </a:spcBef>
              <a:buFont typeface="Arial"/>
              <a:buChar char="•"/>
            </a:pPr>
            <a:r>
              <a:rPr lang="en-US" dirty="0"/>
              <a:t>Discuss the Functions of your design</a:t>
            </a:r>
          </a:p>
          <a:p>
            <a:pPr marL="171450" indent="-171450">
              <a:spcBef>
                <a:spcPts val="1000"/>
              </a:spcBef>
              <a:buFont typeface="Arial"/>
              <a:buChar char="•"/>
            </a:pPr>
            <a:r>
              <a:rPr lang="en-US" dirty="0"/>
              <a:t>Discuss the Constraints placed on your project</a:t>
            </a:r>
          </a:p>
        </p:txBody>
      </p:sp>
      <p:sp>
        <p:nvSpPr>
          <p:cNvPr id="4" name="Slide Number Placeholder 3"/>
          <p:cNvSpPr>
            <a:spLocks noGrp="1"/>
          </p:cNvSpPr>
          <p:nvPr>
            <p:ph type="sldNum" sz="quarter" idx="5"/>
          </p:nvPr>
        </p:nvSpPr>
        <p:spPr/>
        <p:txBody>
          <a:bodyPr/>
          <a:lstStyle/>
          <a:p>
            <a:fld id="{72E22803-933A-464A-BF5A-19638B6C16CC}" type="slidenum">
              <a:rPr lang="en-US" smtClean="0"/>
              <a:t>8</a:t>
            </a:fld>
            <a:endParaRPr lang="en-US"/>
          </a:p>
        </p:txBody>
      </p:sp>
    </p:spTree>
    <p:extLst>
      <p:ext uri="{BB962C8B-B14F-4D97-AF65-F5344CB8AC3E}">
        <p14:creationId xmlns:p14="http://schemas.microsoft.com/office/powerpoint/2010/main" val="19650589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a:t>
            </a:r>
          </a:p>
          <a:p>
            <a:pPr marL="171450" indent="-171450">
              <a:spcBef>
                <a:spcPts val="1000"/>
              </a:spcBef>
              <a:buFont typeface="Arial"/>
              <a:buChar char="•"/>
            </a:pPr>
            <a:r>
              <a:rPr lang="en-US" dirty="0"/>
              <a:t>Describe each metric and how they were derived from your objectives, functions, and constraints</a:t>
            </a:r>
          </a:p>
          <a:p>
            <a:endParaRPr lang="en-US" dirty="0"/>
          </a:p>
        </p:txBody>
      </p:sp>
      <p:sp>
        <p:nvSpPr>
          <p:cNvPr id="4" name="Slide Number Placeholder 3"/>
          <p:cNvSpPr>
            <a:spLocks noGrp="1"/>
          </p:cNvSpPr>
          <p:nvPr>
            <p:ph type="sldNum" sz="quarter" idx="5"/>
          </p:nvPr>
        </p:nvSpPr>
        <p:spPr/>
        <p:txBody>
          <a:bodyPr/>
          <a:lstStyle/>
          <a:p>
            <a:fld id="{72E22803-933A-464A-BF5A-19638B6C16CC}" type="slidenum">
              <a:rPr lang="en-US" smtClean="0"/>
              <a:t>9</a:t>
            </a:fld>
            <a:endParaRPr lang="en-US"/>
          </a:p>
        </p:txBody>
      </p:sp>
    </p:spTree>
    <p:extLst>
      <p:ext uri="{BB962C8B-B14F-4D97-AF65-F5344CB8AC3E}">
        <p14:creationId xmlns:p14="http://schemas.microsoft.com/office/powerpoint/2010/main" val="30018812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a:t>
            </a:r>
          </a:p>
          <a:p>
            <a:pPr>
              <a:spcBef>
                <a:spcPts val="1000"/>
              </a:spcBef>
            </a:pPr>
            <a:r>
              <a:rPr lang="en-US"/>
              <a:t>Talking Points:</a:t>
            </a:r>
          </a:p>
          <a:p>
            <a:pPr marL="171450" indent="-171450">
              <a:spcBef>
                <a:spcPts val="1000"/>
              </a:spcBef>
              <a:buFont typeface="Arial" panose="020B0604020202020204" pitchFamily="34" charset="0"/>
              <a:buChar char="•"/>
            </a:pPr>
            <a:r>
              <a:rPr lang="en-US" dirty="0"/>
              <a:t>What has already been done to solve the problem that your product will solve</a:t>
            </a:r>
          </a:p>
          <a:p>
            <a:pPr marL="171450" indent="-171450">
              <a:spcBef>
                <a:spcPts val="1000"/>
              </a:spcBef>
              <a:buFont typeface="Arial" panose="020B0604020202020204" pitchFamily="34" charset="0"/>
              <a:buChar char="•"/>
            </a:pPr>
            <a:r>
              <a:rPr lang="en-US" dirty="0"/>
              <a:t>What are the strengths of existing solutions?</a:t>
            </a:r>
          </a:p>
          <a:p>
            <a:pPr marL="171450" indent="-171450">
              <a:spcBef>
                <a:spcPts val="1000"/>
              </a:spcBef>
              <a:buFont typeface="Arial" panose="020B0604020202020204" pitchFamily="34" charset="0"/>
              <a:buChar char="•"/>
            </a:pPr>
            <a:r>
              <a:rPr lang="en-US" dirty="0"/>
              <a:t>What are the deficiencies of existing solutions?</a:t>
            </a:r>
          </a:p>
          <a:p>
            <a:pPr marL="171450" indent="-171450">
              <a:spcBef>
                <a:spcPts val="1000"/>
              </a:spcBef>
              <a:buFont typeface="Arial" panose="020B0604020202020204" pitchFamily="34" charset="0"/>
              <a:buChar char="•"/>
            </a:pPr>
            <a:r>
              <a:rPr lang="en-US" dirty="0"/>
              <a:t>Talk about existing solutions from a quantitative perspective. How well do the existing solutions meet your target metrics? Make a case for why existing solutions will not work in the case of your project.</a:t>
            </a:r>
          </a:p>
          <a:p>
            <a:endParaRPr lang="en-US" dirty="0"/>
          </a:p>
        </p:txBody>
      </p:sp>
      <p:sp>
        <p:nvSpPr>
          <p:cNvPr id="4" name="Slide Number Placeholder 3"/>
          <p:cNvSpPr>
            <a:spLocks noGrp="1"/>
          </p:cNvSpPr>
          <p:nvPr>
            <p:ph type="sldNum" sz="quarter" idx="5"/>
          </p:nvPr>
        </p:nvSpPr>
        <p:spPr/>
        <p:txBody>
          <a:bodyPr/>
          <a:lstStyle/>
          <a:p>
            <a:fld id="{72E22803-933A-464A-BF5A-19638B6C16CC}" type="slidenum">
              <a:rPr lang="en-US" smtClean="0"/>
              <a:t>10</a:t>
            </a:fld>
            <a:endParaRPr lang="en-US"/>
          </a:p>
        </p:txBody>
      </p:sp>
    </p:spTree>
    <p:extLst>
      <p:ext uri="{BB962C8B-B14F-4D97-AF65-F5344CB8AC3E}">
        <p14:creationId xmlns:p14="http://schemas.microsoft.com/office/powerpoint/2010/main" val="26897300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a:t>
            </a:r>
          </a:p>
          <a:p>
            <a:pPr marL="171450" indent="-171450">
              <a:spcBef>
                <a:spcPts val="1000"/>
              </a:spcBef>
              <a:buFont typeface="Arial" panose="020B0604020202020204" pitchFamily="34" charset="0"/>
              <a:buChar char="•"/>
            </a:pPr>
            <a:r>
              <a:rPr lang="en-US" dirty="0"/>
              <a:t>Who are your target customers (be specific)</a:t>
            </a:r>
          </a:p>
          <a:p>
            <a:pPr marL="171450" indent="-171450">
              <a:spcBef>
                <a:spcPts val="1000"/>
              </a:spcBef>
              <a:buFont typeface="Arial" panose="020B0604020202020204" pitchFamily="34" charset="0"/>
              <a:buChar char="•"/>
            </a:pPr>
            <a:r>
              <a:rPr lang="en-US" dirty="0"/>
              <a:t>Describe the use case for your target customers</a:t>
            </a:r>
          </a:p>
          <a:p>
            <a:pPr marL="171450" indent="-171450">
              <a:spcBef>
                <a:spcPts val="1000"/>
              </a:spcBef>
              <a:buFont typeface="Arial" panose="020B0604020202020204" pitchFamily="34" charset="0"/>
              <a:buChar char="•"/>
            </a:pPr>
            <a:r>
              <a:rPr lang="en-US" dirty="0"/>
              <a:t>Give an estimate of the size of your market and their geographical location</a:t>
            </a:r>
          </a:p>
        </p:txBody>
      </p:sp>
      <p:sp>
        <p:nvSpPr>
          <p:cNvPr id="4" name="Slide Number Placeholder 3"/>
          <p:cNvSpPr>
            <a:spLocks noGrp="1"/>
          </p:cNvSpPr>
          <p:nvPr>
            <p:ph type="sldNum" sz="quarter" idx="5"/>
          </p:nvPr>
        </p:nvSpPr>
        <p:spPr/>
        <p:txBody>
          <a:bodyPr/>
          <a:lstStyle/>
          <a:p>
            <a:fld id="{72E22803-933A-464A-BF5A-19638B6C16CC}" type="slidenum">
              <a:rPr lang="en-US" smtClean="0"/>
              <a:t>11</a:t>
            </a:fld>
            <a:endParaRPr lang="en-US"/>
          </a:p>
        </p:txBody>
      </p:sp>
    </p:spTree>
    <p:extLst>
      <p:ext uri="{BB962C8B-B14F-4D97-AF65-F5344CB8AC3E}">
        <p14:creationId xmlns:p14="http://schemas.microsoft.com/office/powerpoint/2010/main" val="8650922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a:t>
            </a:r>
          </a:p>
          <a:p>
            <a:pPr marL="171450" indent="-171450">
              <a:spcBef>
                <a:spcPts val="1000"/>
              </a:spcBef>
              <a:buFont typeface="Arial" panose="020B0604020202020204" pitchFamily="34" charset="0"/>
              <a:buChar char="•"/>
            </a:pPr>
            <a:r>
              <a:rPr lang="en-US" dirty="0"/>
              <a:t>Introduce concepts that the team generated. Each finalist conceptual design is required to be developed over a minimum of one week post conception before judging with a decision matrix.</a:t>
            </a:r>
          </a:p>
          <a:p>
            <a:pPr marL="171450" indent="-171450">
              <a:spcBef>
                <a:spcPts val="1000"/>
              </a:spcBef>
              <a:buFont typeface="Arial" panose="020B0604020202020204" pitchFamily="34" charset="0"/>
              <a:buChar char="•"/>
            </a:pPr>
            <a:r>
              <a:rPr lang="en-US" dirty="0"/>
              <a:t>Describe the techniques that your team used to derive the finalist conceptual designs (you must provide evidence of using at least 3 different techniques – these will be discussed in class)</a:t>
            </a:r>
          </a:p>
        </p:txBody>
      </p:sp>
      <p:sp>
        <p:nvSpPr>
          <p:cNvPr id="4" name="Slide Number Placeholder 3"/>
          <p:cNvSpPr>
            <a:spLocks noGrp="1"/>
          </p:cNvSpPr>
          <p:nvPr>
            <p:ph type="sldNum" sz="quarter" idx="5"/>
          </p:nvPr>
        </p:nvSpPr>
        <p:spPr/>
        <p:txBody>
          <a:bodyPr/>
          <a:lstStyle/>
          <a:p>
            <a:fld id="{72E22803-933A-464A-BF5A-19638B6C16CC}" type="slidenum">
              <a:rPr lang="en-US" smtClean="0"/>
              <a:t>12</a:t>
            </a:fld>
            <a:endParaRPr lang="en-US"/>
          </a:p>
        </p:txBody>
      </p:sp>
    </p:spTree>
    <p:extLst>
      <p:ext uri="{BB962C8B-B14F-4D97-AF65-F5344CB8AC3E}">
        <p14:creationId xmlns:p14="http://schemas.microsoft.com/office/powerpoint/2010/main" val="22526376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a:t>
            </a:r>
          </a:p>
          <a:p>
            <a:pPr marL="171450" indent="-171450">
              <a:spcBef>
                <a:spcPts val="1000"/>
              </a:spcBef>
              <a:buFont typeface="Arial" panose="020B0604020202020204" pitchFamily="34" charset="0"/>
              <a:buChar char="•"/>
            </a:pPr>
            <a:r>
              <a:rPr lang="en-US"/>
              <a:t>Walk through the evaluation process for each finalist conceptual design</a:t>
            </a:r>
            <a:r>
              <a:rPr lang="en-US" dirty="0"/>
              <a:t>.</a:t>
            </a:r>
            <a:endParaRPr lang="en-US"/>
          </a:p>
          <a:p>
            <a:pPr marL="171450" indent="-171450">
              <a:spcBef>
                <a:spcPts val="1000"/>
              </a:spcBef>
              <a:buFont typeface="Arial" panose="020B0604020202020204" pitchFamily="34" charset="0"/>
              <a:buChar char="•"/>
            </a:pPr>
            <a:r>
              <a:rPr lang="en-US" dirty="0"/>
              <a:t>Articulate team thoughts concerning each finalist conceptual design.</a:t>
            </a:r>
          </a:p>
        </p:txBody>
      </p:sp>
      <p:sp>
        <p:nvSpPr>
          <p:cNvPr id="4" name="Slide Number Placeholder 3"/>
          <p:cNvSpPr>
            <a:spLocks noGrp="1"/>
          </p:cNvSpPr>
          <p:nvPr>
            <p:ph type="sldNum" sz="quarter" idx="5"/>
          </p:nvPr>
        </p:nvSpPr>
        <p:spPr/>
        <p:txBody>
          <a:bodyPr/>
          <a:lstStyle/>
          <a:p>
            <a:fld id="{72E22803-933A-464A-BF5A-19638B6C16CC}" type="slidenum">
              <a:rPr lang="en-US" smtClean="0"/>
              <a:t>13</a:t>
            </a:fld>
            <a:endParaRPr lang="en-US"/>
          </a:p>
        </p:txBody>
      </p:sp>
    </p:spTree>
    <p:extLst>
      <p:ext uri="{BB962C8B-B14F-4D97-AF65-F5344CB8AC3E}">
        <p14:creationId xmlns:p14="http://schemas.microsoft.com/office/powerpoint/2010/main" val="27660409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a:t>
            </a:r>
          </a:p>
          <a:p>
            <a:pPr marL="171450" indent="-171450">
              <a:spcBef>
                <a:spcPts val="1000"/>
              </a:spcBef>
              <a:buFont typeface="Arial" panose="020B0604020202020204" pitchFamily="34" charset="0"/>
              <a:buChar char="•"/>
            </a:pPr>
            <a:r>
              <a:rPr lang="en-US"/>
              <a:t>Announce the conceptual design that your team chose</a:t>
            </a:r>
            <a:endParaRPr lang="en-US" dirty="0"/>
          </a:p>
          <a:p>
            <a:pPr marL="171450" indent="-171450">
              <a:spcBef>
                <a:spcPts val="1000"/>
              </a:spcBef>
              <a:buFont typeface="Arial" panose="020B0604020202020204" pitchFamily="34" charset="0"/>
              <a:buChar char="•"/>
            </a:pPr>
            <a:r>
              <a:rPr lang="en-US" dirty="0"/>
              <a:t>Recount your discussion with your sponsor. What are their thoughts? Are they onboard with this selected conceptual design?</a:t>
            </a:r>
          </a:p>
        </p:txBody>
      </p:sp>
      <p:sp>
        <p:nvSpPr>
          <p:cNvPr id="4" name="Slide Number Placeholder 3"/>
          <p:cNvSpPr>
            <a:spLocks noGrp="1"/>
          </p:cNvSpPr>
          <p:nvPr>
            <p:ph type="sldNum" sz="quarter" idx="5"/>
          </p:nvPr>
        </p:nvSpPr>
        <p:spPr/>
        <p:txBody>
          <a:bodyPr/>
          <a:lstStyle/>
          <a:p>
            <a:fld id="{72E22803-933A-464A-BF5A-19638B6C16CC}" type="slidenum">
              <a:rPr lang="en-US" smtClean="0"/>
              <a:t>14</a:t>
            </a:fld>
            <a:endParaRPr lang="en-US"/>
          </a:p>
        </p:txBody>
      </p:sp>
    </p:spTree>
    <p:extLst>
      <p:ext uri="{BB962C8B-B14F-4D97-AF65-F5344CB8AC3E}">
        <p14:creationId xmlns:p14="http://schemas.microsoft.com/office/powerpoint/2010/main" val="3605793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0C0817-A112-4847-8014-A94B7D2A4EA3}" type="datetime1">
              <a:rPr lang="en-US" smtClean="0"/>
              <a:t>9/6/2024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540454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9/6/2024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4226503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C646AA-F36E-4540-911D-FFFC0A0EF24A}" type="datetime1">
              <a:rPr lang="en-US" smtClean="0"/>
              <a:t>9/6/2024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4130826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9/6/2024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996331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9/6/2024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770355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9/6/2024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4053583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9/6/2024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285113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8D12A6-918A-48BD-8CB9-CA713993B0EA}" type="datetime1">
              <a:rPr lang="en-US" smtClean="0"/>
              <a:t>9/6/2024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127578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78CE86-875F-4587-BCF6-FA054AFC0D53}" type="datetime1">
              <a:rPr lang="en-US" smtClean="0"/>
              <a:pPr/>
              <a:t>9/6/2024</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4081665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FA2B21-3FCD-4721-B95C-427943F61125}" type="datetime1">
              <a:rPr lang="en-US" smtClean="0"/>
              <a:t>9/6/2024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77816943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FA2B21-3FCD-4721-B95C-427943F61125}" type="datetime1">
              <a:rPr lang="en-US" smtClean="0"/>
              <a:t>9/6/2024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15765176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FA2B21-3FCD-4721-B95C-427943F61125}" type="datetime1">
              <a:rPr lang="en-US" smtClean="0"/>
              <a:t>9/6/2024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45774362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FA2B21-3FCD-4721-B95C-427943F61125}" type="datetime1">
              <a:rPr lang="en-US" smtClean="0"/>
              <a:t>9/6/2024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40911626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FA2B21-3FCD-4721-B95C-427943F61125}" type="datetime1">
              <a:rPr lang="en-US" smtClean="0"/>
              <a:t>9/6/2024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43153905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9/6/2024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1087965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9/6/2024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4207619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6FA2B21-3FCD-4721-B95C-427943F61125}" type="datetime1">
              <a:rPr lang="en-US" smtClean="0"/>
              <a:t>9/6/2024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898286224"/>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F13BE226-F91B-5068-CE68-55E005528DB8}"/>
              </a:ext>
            </a:extLst>
          </p:cNvPr>
          <p:cNvGrpSpPr/>
          <p:nvPr/>
        </p:nvGrpSpPr>
        <p:grpSpPr>
          <a:xfrm>
            <a:off x="0" y="0"/>
            <a:ext cx="9144000" cy="894665"/>
            <a:chOff x="0" y="0"/>
            <a:chExt cx="9144000" cy="894665"/>
          </a:xfrm>
        </p:grpSpPr>
        <p:sp>
          <p:nvSpPr>
            <p:cNvPr id="12" name="Rectangle 11">
              <a:extLst>
                <a:ext uri="{FF2B5EF4-FFF2-40B4-BE49-F238E27FC236}">
                  <a16:creationId xmlns:a16="http://schemas.microsoft.com/office/drawing/2014/main" id="{48F050D0-51F3-4C4C-97A7-2C7F55A8711E}"/>
                </a:ext>
              </a:extLst>
            </p:cNvPr>
            <p:cNvSpPr/>
            <p:nvPr/>
          </p:nvSpPr>
          <p:spPr>
            <a:xfrm>
              <a:off x="0" y="0"/>
              <a:ext cx="9144000" cy="894665"/>
            </a:xfrm>
            <a:prstGeom prst="rect">
              <a:avLst/>
            </a:prstGeom>
            <a:gradFill>
              <a:gsLst>
                <a:gs pos="0">
                  <a:schemeClr val="bg1"/>
                </a:gs>
                <a:gs pos="74000">
                  <a:srgbClr val="003058"/>
                </a:gs>
                <a:gs pos="83000">
                  <a:srgbClr val="003058"/>
                </a:gs>
                <a:gs pos="100000">
                  <a:srgbClr val="003058"/>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4939C93-C320-E8FC-495D-E709655C763B}"/>
                </a:ext>
              </a:extLst>
            </p:cNvPr>
            <p:cNvSpPr txBox="1"/>
            <p:nvPr/>
          </p:nvSpPr>
          <p:spPr>
            <a:xfrm>
              <a:off x="233234" y="108634"/>
              <a:ext cx="6822332" cy="646331"/>
            </a:xfrm>
            <a:prstGeom prst="rect">
              <a:avLst/>
            </a:prstGeom>
            <a:noFill/>
          </p:spPr>
          <p:txBody>
            <a:bodyPr wrap="square" rtlCol="0">
              <a:spAutoFit/>
            </a:bodyPr>
            <a:lstStyle/>
            <a:p>
              <a:r>
                <a:rPr lang="en-US" sz="3600" dirty="0">
                  <a:solidFill>
                    <a:schemeClr val="bg1"/>
                  </a:solidFill>
                  <a:effectLst/>
                  <a:latin typeface="Trailblazers Font B Width 300" pitchFamily="2" charset="0"/>
                </a:rPr>
                <a:t>Conceptual Design Review</a:t>
              </a:r>
            </a:p>
          </p:txBody>
        </p:sp>
      </p:grpSp>
      <p:sp>
        <p:nvSpPr>
          <p:cNvPr id="2" name="Title 1">
            <a:extLst>
              <a:ext uri="{FF2B5EF4-FFF2-40B4-BE49-F238E27FC236}">
                <a16:creationId xmlns:a16="http://schemas.microsoft.com/office/drawing/2014/main" id="{48AECAD2-8DF9-716B-D426-CC6AC3EF3F69}"/>
              </a:ext>
            </a:extLst>
          </p:cNvPr>
          <p:cNvSpPr txBox="1">
            <a:spLocks/>
          </p:cNvSpPr>
          <p:nvPr/>
        </p:nvSpPr>
        <p:spPr>
          <a:xfrm>
            <a:off x="290512" y="1909295"/>
            <a:ext cx="9144000" cy="14938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7200" dirty="0">
                <a:latin typeface="Bison Bold"/>
              </a:rPr>
              <a:t>CubeSat </a:t>
            </a:r>
            <a:r>
              <a:rPr lang="en-US" sz="7200">
                <a:latin typeface="Bison Bold"/>
              </a:rPr>
              <a:t>| </a:t>
            </a:r>
            <a:r>
              <a:rPr lang="en-US" sz="7200" dirty="0">
                <a:latin typeface="Bison Bold"/>
              </a:rPr>
              <a:t>Control</a:t>
            </a:r>
            <a:endParaRPr lang="en-US" sz="7200" dirty="0">
              <a:latin typeface="Bison Bold" panose="00000400000000000000" pitchFamily="2" charset="0"/>
            </a:endParaRPr>
          </a:p>
        </p:txBody>
      </p:sp>
      <p:sp>
        <p:nvSpPr>
          <p:cNvPr id="3" name="Subtitle 2">
            <a:extLst>
              <a:ext uri="{FF2B5EF4-FFF2-40B4-BE49-F238E27FC236}">
                <a16:creationId xmlns:a16="http://schemas.microsoft.com/office/drawing/2014/main" id="{4391D4F7-24D0-AF4C-C6C9-A8052ED58C30}"/>
              </a:ext>
            </a:extLst>
          </p:cNvPr>
          <p:cNvSpPr txBox="1">
            <a:spLocks/>
          </p:cNvSpPr>
          <p:nvPr/>
        </p:nvSpPr>
        <p:spPr>
          <a:xfrm>
            <a:off x="290512" y="4484251"/>
            <a:ext cx="9144000" cy="203288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latin typeface="Altivo Regular"/>
              </a:rPr>
              <a:t>Ben Sherman</a:t>
            </a:r>
            <a:endParaRPr lang="en-US" dirty="0">
              <a:latin typeface="Altivo Regular" panose="020B0000000000000000" pitchFamily="34" charset="0"/>
            </a:endParaRPr>
          </a:p>
          <a:p>
            <a:pPr marL="0" indent="0" algn="ctr">
              <a:buNone/>
            </a:pPr>
            <a:r>
              <a:rPr lang="en-US" dirty="0">
                <a:latin typeface="Altivo Regular"/>
              </a:rPr>
              <a:t>Trace Shafer</a:t>
            </a:r>
            <a:endParaRPr lang="en-US" dirty="0">
              <a:latin typeface="Altivo Regular" panose="020B0000000000000000" pitchFamily="34" charset="0"/>
            </a:endParaRPr>
          </a:p>
        </p:txBody>
      </p:sp>
      <p:sp>
        <p:nvSpPr>
          <p:cNvPr id="6" name="Subtitle 2">
            <a:extLst>
              <a:ext uri="{FF2B5EF4-FFF2-40B4-BE49-F238E27FC236}">
                <a16:creationId xmlns:a16="http://schemas.microsoft.com/office/drawing/2014/main" id="{90FB13CA-CF7A-FFC2-89D7-1C0FA9ADC0C2}"/>
              </a:ext>
            </a:extLst>
          </p:cNvPr>
          <p:cNvSpPr txBox="1">
            <a:spLocks/>
          </p:cNvSpPr>
          <p:nvPr/>
        </p:nvSpPr>
        <p:spPr>
          <a:xfrm>
            <a:off x="290512" y="3403117"/>
            <a:ext cx="9144000" cy="820542"/>
          </a:xfrm>
          <a:prstGeom prst="rect">
            <a:avLst/>
          </a:prstGeom>
        </p:spPr>
        <p:txBody>
          <a:bodyPr vert="horz" lIns="91440" tIns="45720" rIns="91440" bIns="45720" rtlCol="0" anchor="t">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latin typeface="Altivo Regular"/>
              </a:rPr>
              <a:t>MECH 4000 – Product Design I</a:t>
            </a:r>
          </a:p>
          <a:p>
            <a:r>
              <a:rPr lang="en-US" dirty="0">
                <a:latin typeface="Altivo Regular"/>
              </a:rPr>
              <a:t>4 Sept 2024</a:t>
            </a:r>
          </a:p>
        </p:txBody>
      </p:sp>
      <p:cxnSp>
        <p:nvCxnSpPr>
          <p:cNvPr id="17" name="Straight Connector 16">
            <a:extLst>
              <a:ext uri="{FF2B5EF4-FFF2-40B4-BE49-F238E27FC236}">
                <a16:creationId xmlns:a16="http://schemas.microsoft.com/office/drawing/2014/main" id="{0C80312E-CC29-76BF-3F03-CFDCACC8934D}"/>
              </a:ext>
            </a:extLst>
          </p:cNvPr>
          <p:cNvCxnSpPr/>
          <p:nvPr/>
        </p:nvCxnSpPr>
        <p:spPr>
          <a:xfrm>
            <a:off x="1854200" y="3196773"/>
            <a:ext cx="5880100" cy="0"/>
          </a:xfrm>
          <a:prstGeom prst="line">
            <a:avLst/>
          </a:prstGeom>
          <a:ln w="38100">
            <a:solidFill>
              <a:srgbClr val="BA1C2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8742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5B618-E765-1073-0B45-0FB96B0C8428}"/>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ADFC284E-1BD7-A4DF-D042-24215394D896}"/>
              </a:ext>
            </a:extLst>
          </p:cNvPr>
          <p:cNvSpPr>
            <a:spLocks noGrp="1"/>
          </p:cNvSpPr>
          <p:nvPr>
            <p:ph idx="1"/>
          </p:nvPr>
        </p:nvSpPr>
        <p:spPr>
          <a:xfrm>
            <a:off x="1066800" y="1676400"/>
            <a:ext cx="9843856" cy="4866640"/>
          </a:xfrm>
        </p:spPr>
        <p:txBody>
          <a:bodyPr vert="horz" lIns="91440" tIns="45720" rIns="91440" bIns="45720" rtlCol="0" anchor="t">
            <a:normAutofit fontScale="92500" lnSpcReduction="20000"/>
          </a:bodyPr>
          <a:lstStyle/>
          <a:p>
            <a:pPr marL="457200" indent="-457200"/>
            <a:r>
              <a:rPr lang="en-US" sz="3000" dirty="0"/>
              <a:t>Design Statement</a:t>
            </a:r>
          </a:p>
          <a:p>
            <a:pPr marL="457200" indent="-457200"/>
            <a:r>
              <a:rPr lang="en-US" sz="3000" dirty="0"/>
              <a:t>Deliverables</a:t>
            </a:r>
          </a:p>
          <a:p>
            <a:pPr marL="457200" indent="-457200"/>
            <a:r>
              <a:rPr lang="en-US" sz="3000" dirty="0"/>
              <a:t>Needs Analysis</a:t>
            </a:r>
          </a:p>
          <a:p>
            <a:pPr marL="457200" indent="-457200"/>
            <a:r>
              <a:rPr lang="en-US" sz="3000" dirty="0"/>
              <a:t>Specification Development</a:t>
            </a:r>
          </a:p>
          <a:p>
            <a:pPr marL="457200" indent="-457200"/>
            <a:r>
              <a:rPr lang="en-US" sz="3000" dirty="0"/>
              <a:t>Specifications</a:t>
            </a:r>
          </a:p>
          <a:p>
            <a:pPr marL="457200" indent="-457200"/>
            <a:r>
              <a:rPr lang="en-US" sz="3000" dirty="0"/>
              <a:t>Benchmarking</a:t>
            </a:r>
          </a:p>
          <a:p>
            <a:pPr marL="457200" indent="-457200"/>
            <a:r>
              <a:rPr lang="en-US" sz="3000" dirty="0"/>
              <a:t>Market Analysis</a:t>
            </a:r>
          </a:p>
          <a:p>
            <a:pPr marL="457200" indent="-457200"/>
            <a:r>
              <a:rPr lang="en-US" sz="3000" dirty="0"/>
              <a:t>Concept Generation</a:t>
            </a:r>
          </a:p>
          <a:p>
            <a:pPr marL="457200" indent="-457200"/>
            <a:r>
              <a:rPr lang="en-US" sz="3000" dirty="0"/>
              <a:t>Decision Matrix</a:t>
            </a:r>
          </a:p>
          <a:p>
            <a:pPr marL="457200" indent="-457200"/>
            <a:r>
              <a:rPr lang="en-US" sz="3000" dirty="0"/>
              <a:t>Concept Selection</a:t>
            </a:r>
          </a:p>
        </p:txBody>
      </p:sp>
    </p:spTree>
    <p:extLst>
      <p:ext uri="{BB962C8B-B14F-4D97-AF65-F5344CB8AC3E}">
        <p14:creationId xmlns:p14="http://schemas.microsoft.com/office/powerpoint/2010/main" val="2477056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5251F-E733-486C-9AD2-C5E97AED5DF2}"/>
              </a:ext>
            </a:extLst>
          </p:cNvPr>
          <p:cNvSpPr>
            <a:spLocks noGrp="1"/>
          </p:cNvSpPr>
          <p:nvPr>
            <p:ph type="title"/>
          </p:nvPr>
        </p:nvSpPr>
        <p:spPr/>
        <p:txBody>
          <a:bodyPr/>
          <a:lstStyle/>
          <a:p>
            <a:r>
              <a:rPr lang="en-US" dirty="0"/>
              <a:t>Design Statement</a:t>
            </a:r>
          </a:p>
        </p:txBody>
      </p:sp>
      <p:sp>
        <p:nvSpPr>
          <p:cNvPr id="3" name="Content Placeholder 2">
            <a:extLst>
              <a:ext uri="{FF2B5EF4-FFF2-40B4-BE49-F238E27FC236}">
                <a16:creationId xmlns:a16="http://schemas.microsoft.com/office/drawing/2014/main" id="{43D7B0FB-2CF6-4AE0-8331-AED94AC4DC3A}"/>
              </a:ext>
            </a:extLst>
          </p:cNvPr>
          <p:cNvSpPr>
            <a:spLocks noGrp="1"/>
          </p:cNvSpPr>
          <p:nvPr>
            <p:ph idx="1"/>
          </p:nvPr>
        </p:nvSpPr>
        <p:spPr>
          <a:xfrm>
            <a:off x="677334" y="4414234"/>
            <a:ext cx="8596668" cy="2705786"/>
          </a:xfrm>
        </p:spPr>
        <p:txBody>
          <a:bodyPr vert="horz" lIns="91440" tIns="45720" rIns="91440" bIns="45720" rtlCol="0" anchor="t">
            <a:normAutofit/>
          </a:bodyPr>
          <a:lstStyle/>
          <a:p>
            <a:pPr marL="0" indent="0">
              <a:buNone/>
            </a:pPr>
            <a:endParaRPr lang="en-US" sz="1800" dirty="0"/>
          </a:p>
          <a:p>
            <a:r>
              <a:rPr lang="en-US" dirty="0"/>
              <a:t>Stakeholders: Utah NASA Space Grant Consortium, Utah Division of Water Resources</a:t>
            </a:r>
          </a:p>
          <a:p>
            <a:r>
              <a:rPr lang="en-US" dirty="0"/>
              <a:t>Sponsors: RAM, PTC, Washington County Water Conservancy District</a:t>
            </a:r>
            <a:endParaRPr lang="en-US" dirty="0">
              <a:ea typeface="+mn-lt"/>
              <a:cs typeface="+mn-lt"/>
            </a:endParaRPr>
          </a:p>
          <a:p>
            <a:r>
              <a:rPr lang="en-US" dirty="0">
                <a:ea typeface="+mn-lt"/>
                <a:cs typeface="+mn-lt"/>
              </a:rPr>
              <a:t>Design</a:t>
            </a:r>
            <a:r>
              <a:rPr lang="en-US" dirty="0"/>
              <a:t> Statement: Design, prototype, and evaluate attitude control system to point at a set location on Earth while taking a photo from low Earth orbit.</a:t>
            </a:r>
            <a:endParaRPr lang="en-US"/>
          </a:p>
          <a:p>
            <a:endParaRPr lang="en-US" sz="1800" dirty="0"/>
          </a:p>
          <a:p>
            <a:endParaRPr lang="en-US" sz="1800" dirty="0"/>
          </a:p>
          <a:p>
            <a:pPr marL="0" indent="0">
              <a:buNone/>
            </a:pPr>
            <a:endParaRPr lang="en-US" sz="1800" dirty="0"/>
          </a:p>
          <a:p>
            <a:pPr marL="0" indent="0">
              <a:buNone/>
            </a:pPr>
            <a:endParaRPr lang="en-US" dirty="0"/>
          </a:p>
          <a:p>
            <a:endParaRPr lang="en-US" dirty="0"/>
          </a:p>
          <a:p>
            <a:endParaRPr lang="en-US" dirty="0"/>
          </a:p>
        </p:txBody>
      </p:sp>
      <p:pic>
        <p:nvPicPr>
          <p:cNvPr id="4" name="Picture 3" descr="A blue and green planet&#10;&#10;Description automatically generated">
            <a:extLst>
              <a:ext uri="{FF2B5EF4-FFF2-40B4-BE49-F238E27FC236}">
                <a16:creationId xmlns:a16="http://schemas.microsoft.com/office/drawing/2014/main" id="{46382C32-5B63-4277-7BCB-8F4445D1B90F}"/>
              </a:ext>
            </a:extLst>
          </p:cNvPr>
          <p:cNvPicPr>
            <a:picLocks noChangeAspect="1"/>
          </p:cNvPicPr>
          <p:nvPr/>
        </p:nvPicPr>
        <p:blipFill>
          <a:blip r:embed="rId3"/>
          <a:stretch>
            <a:fillRect/>
          </a:stretch>
        </p:blipFill>
        <p:spPr>
          <a:xfrm>
            <a:off x="2394909" y="1710906"/>
            <a:ext cx="2422585" cy="2336321"/>
          </a:xfrm>
          <a:prstGeom prst="rect">
            <a:avLst/>
          </a:prstGeom>
        </p:spPr>
      </p:pic>
      <p:pic>
        <p:nvPicPr>
          <p:cNvPr id="6" name="Picture 5">
            <a:extLst>
              <a:ext uri="{FF2B5EF4-FFF2-40B4-BE49-F238E27FC236}">
                <a16:creationId xmlns:a16="http://schemas.microsoft.com/office/drawing/2014/main" id="{F3BD2CE9-0E75-B43A-5A58-D4CE66197FE1}"/>
              </a:ext>
            </a:extLst>
          </p:cNvPr>
          <p:cNvPicPr>
            <a:picLocks noChangeAspect="1"/>
          </p:cNvPicPr>
          <p:nvPr/>
        </p:nvPicPr>
        <p:blipFill>
          <a:blip r:embed="rId4"/>
          <a:stretch>
            <a:fillRect/>
          </a:stretch>
        </p:blipFill>
        <p:spPr>
          <a:xfrm rot="19740000">
            <a:off x="1061403" y="1503906"/>
            <a:ext cx="1224952" cy="1138688"/>
          </a:xfrm>
          <a:prstGeom prst="rect">
            <a:avLst/>
          </a:prstGeom>
        </p:spPr>
      </p:pic>
      <p:pic>
        <p:nvPicPr>
          <p:cNvPr id="5" name="Picture 4" descr="NASA - YouTube">
            <a:extLst>
              <a:ext uri="{FF2B5EF4-FFF2-40B4-BE49-F238E27FC236}">
                <a16:creationId xmlns:a16="http://schemas.microsoft.com/office/drawing/2014/main" id="{3EFCCB70-D843-35DF-3057-274E5FB671CB}"/>
              </a:ext>
            </a:extLst>
          </p:cNvPr>
          <p:cNvPicPr>
            <a:picLocks noChangeAspect="1"/>
          </p:cNvPicPr>
          <p:nvPr/>
        </p:nvPicPr>
        <p:blipFill>
          <a:blip r:embed="rId5"/>
          <a:stretch>
            <a:fillRect/>
          </a:stretch>
        </p:blipFill>
        <p:spPr>
          <a:xfrm>
            <a:off x="5886450" y="1504950"/>
            <a:ext cx="2743200" cy="2743200"/>
          </a:xfrm>
          <a:prstGeom prst="rect">
            <a:avLst/>
          </a:prstGeom>
        </p:spPr>
      </p:pic>
    </p:spTree>
    <p:extLst>
      <p:ext uri="{BB962C8B-B14F-4D97-AF65-F5344CB8AC3E}">
        <p14:creationId xmlns:p14="http://schemas.microsoft.com/office/powerpoint/2010/main" val="1729478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5251F-E733-486C-9AD2-C5E97AED5DF2}"/>
              </a:ext>
            </a:extLst>
          </p:cNvPr>
          <p:cNvSpPr>
            <a:spLocks noGrp="1"/>
          </p:cNvSpPr>
          <p:nvPr>
            <p:ph type="title"/>
          </p:nvPr>
        </p:nvSpPr>
        <p:spPr/>
        <p:txBody>
          <a:bodyPr/>
          <a:lstStyle/>
          <a:p>
            <a:r>
              <a:rPr lang="en-US" dirty="0"/>
              <a:t>Deliverables</a:t>
            </a:r>
          </a:p>
        </p:txBody>
      </p:sp>
      <p:sp>
        <p:nvSpPr>
          <p:cNvPr id="3" name="Content Placeholder 2">
            <a:extLst>
              <a:ext uri="{FF2B5EF4-FFF2-40B4-BE49-F238E27FC236}">
                <a16:creationId xmlns:a16="http://schemas.microsoft.com/office/drawing/2014/main" id="{43D7B0FB-2CF6-4AE0-8331-AED94AC4DC3A}"/>
              </a:ext>
            </a:extLst>
          </p:cNvPr>
          <p:cNvSpPr>
            <a:spLocks noGrp="1"/>
          </p:cNvSpPr>
          <p:nvPr>
            <p:ph idx="1"/>
          </p:nvPr>
        </p:nvSpPr>
        <p:spPr>
          <a:xfrm>
            <a:off x="677334" y="1638300"/>
            <a:ext cx="8596668" cy="4940299"/>
          </a:xfrm>
        </p:spPr>
        <p:txBody>
          <a:bodyPr vert="horz" lIns="91440" tIns="45720" rIns="91440" bIns="45720" rtlCol="0" anchor="t">
            <a:normAutofit/>
          </a:bodyPr>
          <a:lstStyle/>
          <a:p>
            <a:pPr marL="285750" indent="-285750"/>
            <a:r>
              <a:rPr lang="en-US" dirty="0"/>
              <a:t>Designed, manufactured, and tested hardware to control the CubeSat while in space.</a:t>
            </a:r>
          </a:p>
          <a:p>
            <a:pPr marL="285750" indent="-285750"/>
            <a:r>
              <a:rPr lang="en-US" dirty="0">
                <a:ea typeface="+mn-lt"/>
                <a:cs typeface="+mn-lt"/>
              </a:rPr>
              <a:t>Developed software for sensor data processing, control algorithms, and actuator command generation.</a:t>
            </a:r>
            <a:endParaRPr lang="en-US" sz="1800" dirty="0"/>
          </a:p>
          <a:p>
            <a:pPr marL="285750" indent="-285750"/>
            <a:r>
              <a:rPr lang="en-US" dirty="0"/>
              <a:t>Working star tracker hardware and software.</a:t>
            </a:r>
            <a:endParaRPr lang="en-US" sz="1800" dirty="0"/>
          </a:p>
          <a:p>
            <a:pPr marL="0" indent="0">
              <a:buNone/>
            </a:pPr>
            <a:endParaRPr lang="en-US" sz="1800" dirty="0"/>
          </a:p>
          <a:p>
            <a:pPr marL="0" indent="0">
              <a:buNone/>
            </a:pPr>
            <a:endParaRPr lang="en-US" sz="1800" dirty="0"/>
          </a:p>
          <a:p>
            <a:endParaRPr lang="en-US" dirty="0"/>
          </a:p>
          <a:p>
            <a:endParaRPr lang="en-US" dirty="0"/>
          </a:p>
        </p:txBody>
      </p:sp>
      <p:pic>
        <p:nvPicPr>
          <p:cNvPr id="4" name="Picture 3" descr="A close up of a circuit board&#10;&#10;Description automatically generated">
            <a:extLst>
              <a:ext uri="{FF2B5EF4-FFF2-40B4-BE49-F238E27FC236}">
                <a16:creationId xmlns:a16="http://schemas.microsoft.com/office/drawing/2014/main" id="{D28D872A-7084-472F-0794-CCD3C7A560CE}"/>
              </a:ext>
            </a:extLst>
          </p:cNvPr>
          <p:cNvPicPr>
            <a:picLocks noChangeAspect="1"/>
          </p:cNvPicPr>
          <p:nvPr/>
        </p:nvPicPr>
        <p:blipFill>
          <a:blip r:embed="rId3"/>
          <a:stretch>
            <a:fillRect/>
          </a:stretch>
        </p:blipFill>
        <p:spPr>
          <a:xfrm>
            <a:off x="4225865" y="3716996"/>
            <a:ext cx="3743325" cy="2676525"/>
          </a:xfrm>
          <a:prstGeom prst="rect">
            <a:avLst/>
          </a:prstGeom>
        </p:spPr>
      </p:pic>
    </p:spTree>
    <p:extLst>
      <p:ext uri="{BB962C8B-B14F-4D97-AF65-F5344CB8AC3E}">
        <p14:creationId xmlns:p14="http://schemas.microsoft.com/office/powerpoint/2010/main" val="793912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5251F-E733-486C-9AD2-C5E97AED5DF2}"/>
              </a:ext>
            </a:extLst>
          </p:cNvPr>
          <p:cNvSpPr>
            <a:spLocks noGrp="1"/>
          </p:cNvSpPr>
          <p:nvPr>
            <p:ph type="title"/>
          </p:nvPr>
        </p:nvSpPr>
        <p:spPr/>
        <p:txBody>
          <a:bodyPr/>
          <a:lstStyle/>
          <a:p>
            <a:r>
              <a:rPr lang="en-US" dirty="0"/>
              <a:t>Needs Analysis</a:t>
            </a:r>
          </a:p>
        </p:txBody>
      </p:sp>
      <p:sp>
        <p:nvSpPr>
          <p:cNvPr id="3" name="Content Placeholder 2">
            <a:extLst>
              <a:ext uri="{FF2B5EF4-FFF2-40B4-BE49-F238E27FC236}">
                <a16:creationId xmlns:a16="http://schemas.microsoft.com/office/drawing/2014/main" id="{43D7B0FB-2CF6-4AE0-8331-AED94AC4DC3A}"/>
              </a:ext>
            </a:extLst>
          </p:cNvPr>
          <p:cNvSpPr>
            <a:spLocks noGrp="1"/>
          </p:cNvSpPr>
          <p:nvPr>
            <p:ph idx="1"/>
          </p:nvPr>
        </p:nvSpPr>
        <p:spPr>
          <a:xfrm>
            <a:off x="677334" y="962025"/>
            <a:ext cx="8596668" cy="4940299"/>
          </a:xfrm>
        </p:spPr>
        <p:txBody>
          <a:bodyPr vert="horz" lIns="91440" tIns="45720" rIns="91440" bIns="45720" rtlCol="0" anchor="t">
            <a:normAutofit/>
          </a:bodyPr>
          <a:lstStyle/>
          <a:p>
            <a:pPr marL="0" indent="0">
              <a:buNone/>
            </a:pPr>
            <a:endParaRPr lang="en-US" sz="1800" dirty="0"/>
          </a:p>
          <a:p>
            <a:r>
              <a:rPr lang="en-US" dirty="0"/>
              <a:t>Without a way to control the CubeSat, we will not be able to point at Utah while in space and provide accurate data to the Utah Division of Water Resources and the Washington County Water Conservancy District.</a:t>
            </a:r>
          </a:p>
          <a:p>
            <a:r>
              <a:rPr lang="en-US" dirty="0"/>
              <a:t>If we want to be able to point the camera at Utah, how are we going to do that? We need to be able to control it so we can get data, sending a satellite into space without being able to control it would not be helpful.</a:t>
            </a:r>
          </a:p>
          <a:p>
            <a:pPr marL="0" indent="0">
              <a:buNone/>
            </a:pPr>
            <a:endParaRPr lang="en-US" sz="1800" dirty="0"/>
          </a:p>
          <a:p>
            <a:pPr marL="0" indent="0">
              <a:buNone/>
            </a:pPr>
            <a:endParaRPr lang="en-US" sz="1800" dirty="0"/>
          </a:p>
        </p:txBody>
      </p:sp>
      <p:pic>
        <p:nvPicPr>
          <p:cNvPr id="7" name="Picture 6" descr="A planet in the sky&#10;&#10;Description automatically generated">
            <a:extLst>
              <a:ext uri="{FF2B5EF4-FFF2-40B4-BE49-F238E27FC236}">
                <a16:creationId xmlns:a16="http://schemas.microsoft.com/office/drawing/2014/main" id="{B581E8C4-DF83-3D55-3DAD-B8A2AEFFB142}"/>
              </a:ext>
            </a:extLst>
          </p:cNvPr>
          <p:cNvPicPr>
            <a:picLocks noChangeAspect="1"/>
          </p:cNvPicPr>
          <p:nvPr/>
        </p:nvPicPr>
        <p:blipFill>
          <a:blip r:embed="rId3"/>
          <a:stretch>
            <a:fillRect/>
          </a:stretch>
        </p:blipFill>
        <p:spPr>
          <a:xfrm>
            <a:off x="3449983" y="3581952"/>
            <a:ext cx="3057525" cy="3057525"/>
          </a:xfrm>
          <a:prstGeom prst="rect">
            <a:avLst/>
          </a:prstGeom>
        </p:spPr>
      </p:pic>
    </p:spTree>
    <p:extLst>
      <p:ext uri="{BB962C8B-B14F-4D97-AF65-F5344CB8AC3E}">
        <p14:creationId xmlns:p14="http://schemas.microsoft.com/office/powerpoint/2010/main" val="3959375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5251F-E733-486C-9AD2-C5E97AED5DF2}"/>
              </a:ext>
            </a:extLst>
          </p:cNvPr>
          <p:cNvSpPr>
            <a:spLocks noGrp="1"/>
          </p:cNvSpPr>
          <p:nvPr>
            <p:ph type="title"/>
          </p:nvPr>
        </p:nvSpPr>
        <p:spPr>
          <a:xfrm>
            <a:off x="677334" y="447675"/>
            <a:ext cx="8596668" cy="833620"/>
          </a:xfrm>
        </p:spPr>
        <p:txBody>
          <a:bodyPr/>
          <a:lstStyle/>
          <a:p>
            <a:r>
              <a:rPr lang="en-US" dirty="0"/>
              <a:t>Specification Development</a:t>
            </a:r>
          </a:p>
        </p:txBody>
      </p:sp>
      <p:sp>
        <p:nvSpPr>
          <p:cNvPr id="3" name="Content Placeholder 2">
            <a:extLst>
              <a:ext uri="{FF2B5EF4-FFF2-40B4-BE49-F238E27FC236}">
                <a16:creationId xmlns:a16="http://schemas.microsoft.com/office/drawing/2014/main" id="{43D7B0FB-2CF6-4AE0-8331-AED94AC4DC3A}"/>
              </a:ext>
            </a:extLst>
          </p:cNvPr>
          <p:cNvSpPr>
            <a:spLocks noGrp="1"/>
          </p:cNvSpPr>
          <p:nvPr>
            <p:ph idx="1"/>
          </p:nvPr>
        </p:nvSpPr>
        <p:spPr>
          <a:xfrm>
            <a:off x="677334" y="1612848"/>
            <a:ext cx="8596668" cy="5111749"/>
          </a:xfrm>
        </p:spPr>
        <p:txBody>
          <a:bodyPr vert="horz" lIns="91440" tIns="45720" rIns="91440" bIns="45720" rtlCol="0" anchor="t">
            <a:normAutofit/>
          </a:bodyPr>
          <a:lstStyle/>
          <a:p>
            <a:r>
              <a:rPr lang="en-US" dirty="0"/>
              <a:t>Objectives</a:t>
            </a:r>
          </a:p>
          <a:p>
            <a:pPr lvl="1"/>
            <a:r>
              <a:rPr lang="en-US" b="1" dirty="0"/>
              <a:t>Precise Attitude Control</a:t>
            </a:r>
            <a:r>
              <a:rPr lang="en-US" b="1" dirty="0">
                <a:ea typeface="+mn-lt"/>
                <a:cs typeface="+mn-lt"/>
              </a:rPr>
              <a:t>:</a:t>
            </a:r>
            <a:r>
              <a:rPr lang="en-US" dirty="0">
                <a:ea typeface="+mn-lt"/>
                <a:cs typeface="+mn-lt"/>
              </a:rPr>
              <a:t> Achieving precise orientation for the CubeSat’s payload.</a:t>
            </a:r>
          </a:p>
          <a:p>
            <a:pPr lvl="1"/>
            <a:r>
              <a:rPr lang="en-US" b="1" dirty="0"/>
              <a:t>Reliable Performance</a:t>
            </a:r>
            <a:r>
              <a:rPr lang="en-US" b="1" dirty="0">
                <a:ea typeface="+mn-lt"/>
                <a:cs typeface="+mn-lt"/>
              </a:rPr>
              <a:t>:</a:t>
            </a:r>
            <a:r>
              <a:rPr lang="en-US" dirty="0">
                <a:ea typeface="+mn-lt"/>
                <a:cs typeface="+mn-lt"/>
              </a:rPr>
              <a:t> Ensuring reliable attitude adjustments and maintaining stability.</a:t>
            </a:r>
            <a:endParaRPr lang="en-US" dirty="0"/>
          </a:p>
          <a:p>
            <a:pPr lvl="1"/>
            <a:r>
              <a:rPr lang="en-US" b="1" dirty="0">
                <a:ea typeface="+mn-lt"/>
                <a:cs typeface="+mn-lt"/>
              </a:rPr>
              <a:t>Efficient Resource Usage:</a:t>
            </a:r>
            <a:r>
              <a:rPr lang="en-US" dirty="0">
                <a:ea typeface="+mn-lt"/>
                <a:cs typeface="+mn-lt"/>
              </a:rPr>
              <a:t> Utilizing power and computational resources efficiently.</a:t>
            </a:r>
            <a:endParaRPr lang="en-US" dirty="0"/>
          </a:p>
          <a:p>
            <a:pPr lvl="1"/>
            <a:r>
              <a:rPr lang="en-US" b="1" dirty="0">
                <a:ea typeface="+mn-lt"/>
                <a:cs typeface="+mn-lt"/>
              </a:rPr>
              <a:t>Robust System:</a:t>
            </a:r>
            <a:r>
              <a:rPr lang="en-US" dirty="0">
                <a:ea typeface="+mn-lt"/>
                <a:cs typeface="+mn-lt"/>
              </a:rPr>
              <a:t> Developing a robust control system capable of handling unexpected disturbances.</a:t>
            </a:r>
            <a:endParaRPr lang="en-US" dirty="0"/>
          </a:p>
          <a:p>
            <a:pPr lvl="1"/>
            <a:endParaRPr lang="en-US" dirty="0"/>
          </a:p>
          <a:p>
            <a:endParaRPr lang="en-US" dirty="0"/>
          </a:p>
        </p:txBody>
      </p:sp>
      <p:sp>
        <p:nvSpPr>
          <p:cNvPr id="5" name="Content Placeholder 2">
            <a:extLst>
              <a:ext uri="{FF2B5EF4-FFF2-40B4-BE49-F238E27FC236}">
                <a16:creationId xmlns:a16="http://schemas.microsoft.com/office/drawing/2014/main" id="{EB73A68E-14AC-1B55-78F3-3C0EE8096B43}"/>
              </a:ext>
            </a:extLst>
          </p:cNvPr>
          <p:cNvSpPr txBox="1">
            <a:spLocks/>
          </p:cNvSpPr>
          <p:nvPr/>
        </p:nvSpPr>
        <p:spPr>
          <a:xfrm>
            <a:off x="676866" y="958902"/>
            <a:ext cx="8596668" cy="655612"/>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dirty="0"/>
              <a:t>Statement of Work---CubeSat 101---System Integration and Project Manager</a:t>
            </a:r>
          </a:p>
          <a:p>
            <a:pPr marL="0" indent="0">
              <a:buNone/>
            </a:pPr>
            <a:endParaRPr lang="en-US" dirty="0"/>
          </a:p>
        </p:txBody>
      </p:sp>
      <p:pic>
        <p:nvPicPr>
          <p:cNvPr id="4" name="Picture 3" descr="Spaceflight thrilled to launch OreSat0 – OSH Park">
            <a:extLst>
              <a:ext uri="{FF2B5EF4-FFF2-40B4-BE49-F238E27FC236}">
                <a16:creationId xmlns:a16="http://schemas.microsoft.com/office/drawing/2014/main" id="{4D0CC335-96F7-C18D-B0C1-51135FD7FD73}"/>
              </a:ext>
            </a:extLst>
          </p:cNvPr>
          <p:cNvPicPr>
            <a:picLocks noChangeAspect="1"/>
          </p:cNvPicPr>
          <p:nvPr/>
        </p:nvPicPr>
        <p:blipFill>
          <a:blip r:embed="rId3"/>
          <a:stretch>
            <a:fillRect/>
          </a:stretch>
        </p:blipFill>
        <p:spPr>
          <a:xfrm>
            <a:off x="4781550" y="4057204"/>
            <a:ext cx="3533774" cy="2353567"/>
          </a:xfrm>
          <a:prstGeom prst="rect">
            <a:avLst/>
          </a:prstGeom>
        </p:spPr>
      </p:pic>
    </p:spTree>
    <p:extLst>
      <p:ext uri="{BB962C8B-B14F-4D97-AF65-F5344CB8AC3E}">
        <p14:creationId xmlns:p14="http://schemas.microsoft.com/office/powerpoint/2010/main" val="3463706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5251F-E733-486C-9AD2-C5E97AED5DF2}"/>
              </a:ext>
            </a:extLst>
          </p:cNvPr>
          <p:cNvSpPr>
            <a:spLocks noGrp="1"/>
          </p:cNvSpPr>
          <p:nvPr>
            <p:ph type="title"/>
          </p:nvPr>
        </p:nvSpPr>
        <p:spPr>
          <a:xfrm>
            <a:off x="677334" y="447675"/>
            <a:ext cx="8596668" cy="833620"/>
          </a:xfrm>
        </p:spPr>
        <p:txBody>
          <a:bodyPr/>
          <a:lstStyle/>
          <a:p>
            <a:r>
              <a:rPr lang="en-US" dirty="0"/>
              <a:t>Specification Development</a:t>
            </a:r>
          </a:p>
        </p:txBody>
      </p:sp>
      <p:sp>
        <p:nvSpPr>
          <p:cNvPr id="3" name="Content Placeholder 2">
            <a:extLst>
              <a:ext uri="{FF2B5EF4-FFF2-40B4-BE49-F238E27FC236}">
                <a16:creationId xmlns:a16="http://schemas.microsoft.com/office/drawing/2014/main" id="{43D7B0FB-2CF6-4AE0-8331-AED94AC4DC3A}"/>
              </a:ext>
            </a:extLst>
          </p:cNvPr>
          <p:cNvSpPr>
            <a:spLocks noGrp="1"/>
          </p:cNvSpPr>
          <p:nvPr>
            <p:ph idx="1"/>
          </p:nvPr>
        </p:nvSpPr>
        <p:spPr>
          <a:xfrm>
            <a:off x="658284" y="1612848"/>
            <a:ext cx="8596668" cy="5226049"/>
          </a:xfrm>
        </p:spPr>
        <p:txBody>
          <a:bodyPr vert="horz" lIns="91440" tIns="45720" rIns="91440" bIns="45720" rtlCol="0" anchor="t">
            <a:normAutofit/>
          </a:bodyPr>
          <a:lstStyle/>
          <a:p>
            <a:r>
              <a:rPr lang="en-US" dirty="0"/>
              <a:t>Functions</a:t>
            </a:r>
          </a:p>
          <a:p>
            <a:pPr lvl="1"/>
            <a:r>
              <a:rPr lang="en-US" b="1" dirty="0">
                <a:ea typeface="+mn-lt"/>
                <a:cs typeface="+mn-lt"/>
              </a:rPr>
              <a:t>Measure Attitude:</a:t>
            </a:r>
            <a:r>
              <a:rPr lang="en-US" dirty="0">
                <a:ea typeface="+mn-lt"/>
                <a:cs typeface="+mn-lt"/>
              </a:rPr>
              <a:t> Sensors measure the CubeSat's orientation relative to reference points.</a:t>
            </a:r>
          </a:p>
          <a:p>
            <a:pPr lvl="1"/>
            <a:r>
              <a:rPr lang="en-US" b="1" dirty="0">
                <a:ea typeface="+mn-lt"/>
                <a:cs typeface="+mn-lt"/>
              </a:rPr>
              <a:t>Adjust Orientation:</a:t>
            </a:r>
            <a:r>
              <a:rPr lang="en-US" dirty="0">
                <a:ea typeface="+mn-lt"/>
                <a:cs typeface="+mn-lt"/>
              </a:rPr>
              <a:t> Control algorithms adjust the CubeSat’s orientation to the desired position.</a:t>
            </a:r>
            <a:endParaRPr lang="en-US" dirty="0"/>
          </a:p>
          <a:p>
            <a:pPr lvl="1"/>
            <a:r>
              <a:rPr lang="en-US" b="1" dirty="0">
                <a:ea typeface="+mn-lt"/>
                <a:cs typeface="+mn-lt"/>
              </a:rPr>
              <a:t>Calibrate Sensors:</a:t>
            </a:r>
            <a:r>
              <a:rPr lang="en-US" dirty="0">
                <a:ea typeface="+mn-lt"/>
                <a:cs typeface="+mn-lt"/>
              </a:rPr>
              <a:t> Proper calibration ensures accurate sensor readings for precise attitude determination.</a:t>
            </a:r>
            <a:endParaRPr lang="en-US" dirty="0"/>
          </a:p>
          <a:p>
            <a:pPr lvl="1"/>
            <a:r>
              <a:rPr lang="en-US" b="1" dirty="0">
                <a:ea typeface="+mn-lt"/>
                <a:cs typeface="+mn-lt"/>
              </a:rPr>
              <a:t>Monitor Performance:</a:t>
            </a:r>
            <a:r>
              <a:rPr lang="en-US" dirty="0">
                <a:ea typeface="+mn-lt"/>
                <a:cs typeface="+mn-lt"/>
              </a:rPr>
              <a:t> Continuous monitoring helps maintain optimal attitude control and detect any anomalies.</a:t>
            </a:r>
            <a:endParaRPr lang="en-US" dirty="0"/>
          </a:p>
          <a:p>
            <a:pPr lvl="1"/>
            <a:r>
              <a:rPr lang="en-US" b="1" dirty="0">
                <a:ea typeface="+mn-lt"/>
                <a:cs typeface="+mn-lt"/>
              </a:rPr>
              <a:t>Validate Algorithms:</a:t>
            </a:r>
            <a:r>
              <a:rPr lang="en-US" dirty="0">
                <a:ea typeface="+mn-lt"/>
                <a:cs typeface="+mn-lt"/>
              </a:rPr>
              <a:t> Testing and validation ensure that attitude control algorithms perform as expected in space conditions.</a:t>
            </a:r>
          </a:p>
          <a:p>
            <a:pPr lvl="1"/>
            <a:endParaRPr lang="en-US" dirty="0"/>
          </a:p>
          <a:p>
            <a:endParaRPr lang="en-US" dirty="0"/>
          </a:p>
        </p:txBody>
      </p:sp>
      <p:sp>
        <p:nvSpPr>
          <p:cNvPr id="5" name="Content Placeholder 2">
            <a:extLst>
              <a:ext uri="{FF2B5EF4-FFF2-40B4-BE49-F238E27FC236}">
                <a16:creationId xmlns:a16="http://schemas.microsoft.com/office/drawing/2014/main" id="{EB73A68E-14AC-1B55-78F3-3C0EE8096B43}"/>
              </a:ext>
            </a:extLst>
          </p:cNvPr>
          <p:cNvSpPr txBox="1">
            <a:spLocks/>
          </p:cNvSpPr>
          <p:nvPr/>
        </p:nvSpPr>
        <p:spPr>
          <a:xfrm>
            <a:off x="676866" y="958902"/>
            <a:ext cx="8596668" cy="655612"/>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dirty="0"/>
              <a:t>Statement of Work---CubeSat 101---System Integration and Project Manager</a:t>
            </a:r>
          </a:p>
          <a:p>
            <a:pPr marL="0" indent="0">
              <a:buNone/>
            </a:pPr>
            <a:endParaRPr lang="en-US" dirty="0"/>
          </a:p>
        </p:txBody>
      </p:sp>
    </p:spTree>
    <p:extLst>
      <p:ext uri="{BB962C8B-B14F-4D97-AF65-F5344CB8AC3E}">
        <p14:creationId xmlns:p14="http://schemas.microsoft.com/office/powerpoint/2010/main" val="552375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5251F-E733-486C-9AD2-C5E97AED5DF2}"/>
              </a:ext>
            </a:extLst>
          </p:cNvPr>
          <p:cNvSpPr>
            <a:spLocks noGrp="1"/>
          </p:cNvSpPr>
          <p:nvPr>
            <p:ph type="title"/>
          </p:nvPr>
        </p:nvSpPr>
        <p:spPr>
          <a:xfrm>
            <a:off x="677334" y="447675"/>
            <a:ext cx="8596668" cy="833620"/>
          </a:xfrm>
        </p:spPr>
        <p:txBody>
          <a:bodyPr/>
          <a:lstStyle/>
          <a:p>
            <a:r>
              <a:rPr lang="en-US" dirty="0"/>
              <a:t>Specification Development</a:t>
            </a:r>
          </a:p>
        </p:txBody>
      </p:sp>
      <p:sp>
        <p:nvSpPr>
          <p:cNvPr id="3" name="Content Placeholder 2">
            <a:extLst>
              <a:ext uri="{FF2B5EF4-FFF2-40B4-BE49-F238E27FC236}">
                <a16:creationId xmlns:a16="http://schemas.microsoft.com/office/drawing/2014/main" id="{43D7B0FB-2CF6-4AE0-8331-AED94AC4DC3A}"/>
              </a:ext>
            </a:extLst>
          </p:cNvPr>
          <p:cNvSpPr>
            <a:spLocks noGrp="1"/>
          </p:cNvSpPr>
          <p:nvPr>
            <p:ph idx="1"/>
          </p:nvPr>
        </p:nvSpPr>
        <p:spPr>
          <a:xfrm>
            <a:off x="677334" y="1612848"/>
            <a:ext cx="8596668" cy="4997449"/>
          </a:xfrm>
        </p:spPr>
        <p:txBody>
          <a:bodyPr vert="horz" lIns="91440" tIns="45720" rIns="91440" bIns="45720" rtlCol="0" anchor="t">
            <a:normAutofit/>
          </a:bodyPr>
          <a:lstStyle/>
          <a:p>
            <a:r>
              <a:rPr lang="en-US" dirty="0"/>
              <a:t>Constraints</a:t>
            </a:r>
          </a:p>
          <a:p>
            <a:pPr lvl="1"/>
            <a:r>
              <a:rPr lang="en-US" dirty="0"/>
              <a:t>Power</a:t>
            </a:r>
          </a:p>
          <a:p>
            <a:pPr lvl="1"/>
            <a:r>
              <a:rPr lang="en-US" dirty="0"/>
              <a:t>Accuracy</a:t>
            </a:r>
          </a:p>
          <a:p>
            <a:pPr lvl="1"/>
            <a:r>
              <a:rPr lang="en-US" dirty="0"/>
              <a:t>Size</a:t>
            </a:r>
          </a:p>
          <a:p>
            <a:pPr lvl="1"/>
            <a:r>
              <a:rPr lang="en-US" dirty="0"/>
              <a:t>Weight</a:t>
            </a:r>
          </a:p>
          <a:p>
            <a:pPr lvl="1"/>
            <a:r>
              <a:rPr lang="en-US"/>
              <a:t>Budget</a:t>
            </a:r>
            <a:endParaRPr lang="en-US" dirty="0"/>
          </a:p>
          <a:p>
            <a:endParaRPr lang="en-US" dirty="0"/>
          </a:p>
        </p:txBody>
      </p:sp>
      <p:sp>
        <p:nvSpPr>
          <p:cNvPr id="5" name="Content Placeholder 2">
            <a:extLst>
              <a:ext uri="{FF2B5EF4-FFF2-40B4-BE49-F238E27FC236}">
                <a16:creationId xmlns:a16="http://schemas.microsoft.com/office/drawing/2014/main" id="{EB73A68E-14AC-1B55-78F3-3C0EE8096B43}"/>
              </a:ext>
            </a:extLst>
          </p:cNvPr>
          <p:cNvSpPr txBox="1">
            <a:spLocks/>
          </p:cNvSpPr>
          <p:nvPr/>
        </p:nvSpPr>
        <p:spPr>
          <a:xfrm>
            <a:off x="676866" y="958902"/>
            <a:ext cx="8596668" cy="655612"/>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dirty="0"/>
              <a:t>Statement of Work---CubeSat 101---System Integration and Project Manager</a:t>
            </a:r>
          </a:p>
          <a:p>
            <a:pPr marL="0" indent="0">
              <a:buNone/>
            </a:pPr>
            <a:endParaRPr lang="en-US" dirty="0"/>
          </a:p>
        </p:txBody>
      </p:sp>
      <p:pic>
        <p:nvPicPr>
          <p:cNvPr id="4" name="Picture 3" descr="A close up of a machine&#10;&#10;Description automatically generated">
            <a:extLst>
              <a:ext uri="{FF2B5EF4-FFF2-40B4-BE49-F238E27FC236}">
                <a16:creationId xmlns:a16="http://schemas.microsoft.com/office/drawing/2014/main" id="{4926C652-C6D3-970D-324D-C74EDEA8656F}"/>
              </a:ext>
            </a:extLst>
          </p:cNvPr>
          <p:cNvPicPr>
            <a:picLocks noChangeAspect="1"/>
          </p:cNvPicPr>
          <p:nvPr/>
        </p:nvPicPr>
        <p:blipFill>
          <a:blip r:embed="rId3"/>
          <a:stretch>
            <a:fillRect/>
          </a:stretch>
        </p:blipFill>
        <p:spPr>
          <a:xfrm>
            <a:off x="3562350" y="1714500"/>
            <a:ext cx="5343525" cy="4010025"/>
          </a:xfrm>
          <a:prstGeom prst="rect">
            <a:avLst/>
          </a:prstGeom>
        </p:spPr>
      </p:pic>
    </p:spTree>
    <p:extLst>
      <p:ext uri="{BB962C8B-B14F-4D97-AF65-F5344CB8AC3E}">
        <p14:creationId xmlns:p14="http://schemas.microsoft.com/office/powerpoint/2010/main" val="1559846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5251F-E733-486C-9AD2-C5E97AED5DF2}"/>
              </a:ext>
            </a:extLst>
          </p:cNvPr>
          <p:cNvSpPr>
            <a:spLocks noGrp="1"/>
          </p:cNvSpPr>
          <p:nvPr>
            <p:ph type="title"/>
          </p:nvPr>
        </p:nvSpPr>
        <p:spPr/>
        <p:txBody>
          <a:bodyPr/>
          <a:lstStyle/>
          <a:p>
            <a:r>
              <a:rPr lang="en-US" dirty="0"/>
              <a:t>Specifications</a:t>
            </a:r>
          </a:p>
        </p:txBody>
      </p:sp>
      <p:sp>
        <p:nvSpPr>
          <p:cNvPr id="3" name="Content Placeholder 2">
            <a:extLst>
              <a:ext uri="{FF2B5EF4-FFF2-40B4-BE49-F238E27FC236}">
                <a16:creationId xmlns:a16="http://schemas.microsoft.com/office/drawing/2014/main" id="{43D7B0FB-2CF6-4AE0-8331-AED94AC4DC3A}"/>
              </a:ext>
            </a:extLst>
          </p:cNvPr>
          <p:cNvSpPr>
            <a:spLocks noGrp="1"/>
          </p:cNvSpPr>
          <p:nvPr>
            <p:ph idx="1"/>
          </p:nvPr>
        </p:nvSpPr>
        <p:spPr>
          <a:xfrm>
            <a:off x="677334" y="1288530"/>
            <a:ext cx="8596668" cy="430759"/>
          </a:xfrm>
        </p:spPr>
        <p:txBody>
          <a:bodyPr vert="horz" lIns="91440" tIns="45720" rIns="91440" bIns="45720" rtlCol="0" anchor="t">
            <a:normAutofit/>
          </a:bodyPr>
          <a:lstStyle/>
          <a:p>
            <a:pPr marL="285750" indent="-285750"/>
            <a:r>
              <a:rPr lang="en-US"/>
              <a:t>Table of Metrics</a:t>
            </a:r>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BA4B62E8-CF85-B85D-42FF-AAB28F40E440}"/>
              </a:ext>
            </a:extLst>
          </p:cNvPr>
          <p:cNvGraphicFramePr>
            <a:graphicFrameLocks noGrp="1"/>
          </p:cNvGraphicFramePr>
          <p:nvPr>
            <p:extLst>
              <p:ext uri="{D42A27DB-BD31-4B8C-83A1-F6EECF244321}">
                <p14:modId xmlns:p14="http://schemas.microsoft.com/office/powerpoint/2010/main" val="2086667916"/>
              </p:ext>
            </p:extLst>
          </p:nvPr>
        </p:nvGraphicFramePr>
        <p:xfrm>
          <a:off x="675057" y="1934081"/>
          <a:ext cx="8168618" cy="4023360"/>
        </p:xfrm>
        <a:graphic>
          <a:graphicData uri="http://schemas.openxmlformats.org/drawingml/2006/table">
            <a:tbl>
              <a:tblPr firstRow="1" bandRow="1">
                <a:tableStyleId>{5C22544A-7EE6-4342-B048-85BDC9FD1C3A}</a:tableStyleId>
              </a:tblPr>
              <a:tblGrid>
                <a:gridCol w="857250">
                  <a:extLst>
                    <a:ext uri="{9D8B030D-6E8A-4147-A177-3AD203B41FA5}">
                      <a16:colId xmlns:a16="http://schemas.microsoft.com/office/drawing/2014/main" val="1766184485"/>
                    </a:ext>
                  </a:extLst>
                </a:gridCol>
                <a:gridCol w="1531805">
                  <a:extLst>
                    <a:ext uri="{9D8B030D-6E8A-4147-A177-3AD203B41FA5}">
                      <a16:colId xmlns:a16="http://schemas.microsoft.com/office/drawing/2014/main" val="584467459"/>
                    </a:ext>
                  </a:extLst>
                </a:gridCol>
                <a:gridCol w="3341552">
                  <a:extLst>
                    <a:ext uri="{9D8B030D-6E8A-4147-A177-3AD203B41FA5}">
                      <a16:colId xmlns:a16="http://schemas.microsoft.com/office/drawing/2014/main" val="999359953"/>
                    </a:ext>
                  </a:extLst>
                </a:gridCol>
                <a:gridCol w="999342">
                  <a:extLst>
                    <a:ext uri="{9D8B030D-6E8A-4147-A177-3AD203B41FA5}">
                      <a16:colId xmlns:a16="http://schemas.microsoft.com/office/drawing/2014/main" val="1046644027"/>
                    </a:ext>
                  </a:extLst>
                </a:gridCol>
                <a:gridCol w="1438669">
                  <a:extLst>
                    <a:ext uri="{9D8B030D-6E8A-4147-A177-3AD203B41FA5}">
                      <a16:colId xmlns:a16="http://schemas.microsoft.com/office/drawing/2014/main" val="859050395"/>
                    </a:ext>
                  </a:extLst>
                </a:gridCol>
              </a:tblGrid>
              <a:tr h="531615">
                <a:tc>
                  <a:txBody>
                    <a:bodyPr/>
                    <a:lstStyle/>
                    <a:p>
                      <a:r>
                        <a:rPr lang="en-US" dirty="0"/>
                        <a:t>Status</a:t>
                      </a:r>
                    </a:p>
                  </a:txBody>
                  <a:tcPr/>
                </a:tc>
                <a:tc>
                  <a:txBody>
                    <a:bodyPr/>
                    <a:lstStyle/>
                    <a:p>
                      <a:r>
                        <a:rPr lang="en-US" dirty="0"/>
                        <a:t>Metric</a:t>
                      </a:r>
                    </a:p>
                  </a:txBody>
                  <a:tcPr/>
                </a:tc>
                <a:tc>
                  <a:txBody>
                    <a:bodyPr/>
                    <a:lstStyle/>
                    <a:p>
                      <a:r>
                        <a:rPr lang="en-US" dirty="0"/>
                        <a:t>Description</a:t>
                      </a:r>
                    </a:p>
                  </a:txBody>
                  <a:tcPr/>
                </a:tc>
                <a:tc>
                  <a:txBody>
                    <a:bodyPr/>
                    <a:lstStyle/>
                    <a:p>
                      <a:r>
                        <a:rPr lang="en-US" dirty="0"/>
                        <a:t>Units</a:t>
                      </a:r>
                    </a:p>
                  </a:txBody>
                  <a:tcPr/>
                </a:tc>
                <a:tc>
                  <a:txBody>
                    <a:bodyPr/>
                    <a:lstStyle/>
                    <a:p>
                      <a:r>
                        <a:rPr lang="en-US" dirty="0"/>
                        <a:t>Acceptable Values</a:t>
                      </a:r>
                    </a:p>
                  </a:txBody>
                  <a:tcPr/>
                </a:tc>
                <a:extLst>
                  <a:ext uri="{0D108BD9-81ED-4DB2-BD59-A6C34878D82A}">
                    <a16:rowId xmlns:a16="http://schemas.microsoft.com/office/drawing/2014/main" val="717464699"/>
                  </a:ext>
                </a:extLst>
              </a:tr>
              <a:tr h="531615">
                <a:tc>
                  <a:txBody>
                    <a:bodyPr/>
                    <a:lstStyle/>
                    <a:p>
                      <a:r>
                        <a:rPr lang="en-US" dirty="0"/>
                        <a:t>F</a:t>
                      </a:r>
                    </a:p>
                  </a:txBody>
                  <a:tcPr/>
                </a:tc>
                <a:tc>
                  <a:txBody>
                    <a:bodyPr/>
                    <a:lstStyle/>
                    <a:p>
                      <a:r>
                        <a:rPr lang="en-US" dirty="0"/>
                        <a:t>Rotating Accuracy</a:t>
                      </a:r>
                    </a:p>
                  </a:txBody>
                  <a:tcPr/>
                </a:tc>
                <a:tc>
                  <a:txBody>
                    <a:bodyPr/>
                    <a:lstStyle/>
                    <a:p>
                      <a:r>
                        <a:rPr lang="en-US" dirty="0"/>
                        <a:t>How precise the reaction wheels need to be to keep pointed at Utah</a:t>
                      </a:r>
                    </a:p>
                  </a:txBody>
                  <a:tcPr/>
                </a:tc>
                <a:tc>
                  <a:txBody>
                    <a:bodyPr/>
                    <a:lstStyle/>
                    <a:p>
                      <a:r>
                        <a:rPr lang="en-US" dirty="0"/>
                        <a:t>Degrees</a:t>
                      </a:r>
                    </a:p>
                  </a:txBody>
                  <a:tcPr/>
                </a:tc>
                <a:tc>
                  <a:txBody>
                    <a:bodyPr/>
                    <a:lstStyle/>
                    <a:p>
                      <a:r>
                        <a:rPr lang="en-US" dirty="0"/>
                        <a:t>x&lt;1</a:t>
                      </a:r>
                    </a:p>
                  </a:txBody>
                  <a:tcPr/>
                </a:tc>
                <a:extLst>
                  <a:ext uri="{0D108BD9-81ED-4DB2-BD59-A6C34878D82A}">
                    <a16:rowId xmlns:a16="http://schemas.microsoft.com/office/drawing/2014/main" val="3120761322"/>
                  </a:ext>
                </a:extLst>
              </a:tr>
              <a:tr h="531615">
                <a:tc>
                  <a:txBody>
                    <a:bodyPr/>
                    <a:lstStyle/>
                    <a:p>
                      <a:r>
                        <a:rPr lang="en-US" dirty="0"/>
                        <a:t>F</a:t>
                      </a:r>
                    </a:p>
                  </a:txBody>
                  <a:tcPr/>
                </a:tc>
                <a:tc>
                  <a:txBody>
                    <a:bodyPr/>
                    <a:lstStyle/>
                    <a:p>
                      <a:r>
                        <a:rPr lang="en-US" dirty="0"/>
                        <a:t>Power Consumption</a:t>
                      </a:r>
                      <a:endParaRPr lang="en-US" dirty="0" err="1"/>
                    </a:p>
                  </a:txBody>
                  <a:tcPr/>
                </a:tc>
                <a:tc>
                  <a:txBody>
                    <a:bodyPr/>
                    <a:lstStyle/>
                    <a:p>
                      <a:r>
                        <a:rPr lang="en-US" dirty="0"/>
                        <a:t>How much power we are going to be using to control the CubeSat</a:t>
                      </a:r>
                    </a:p>
                  </a:txBody>
                  <a:tcPr/>
                </a:tc>
                <a:tc>
                  <a:txBody>
                    <a:bodyPr/>
                    <a:lstStyle/>
                    <a:p>
                      <a:r>
                        <a:rPr lang="en-US" dirty="0"/>
                        <a:t>Watts</a:t>
                      </a:r>
                    </a:p>
                  </a:txBody>
                  <a:tcPr/>
                </a:tc>
                <a:tc>
                  <a:txBody>
                    <a:bodyPr/>
                    <a:lstStyle/>
                    <a:p>
                      <a:r>
                        <a:rPr lang="en-US" dirty="0"/>
                        <a:t>x&lt;6</a:t>
                      </a:r>
                    </a:p>
                  </a:txBody>
                  <a:tcPr/>
                </a:tc>
                <a:extLst>
                  <a:ext uri="{0D108BD9-81ED-4DB2-BD59-A6C34878D82A}">
                    <a16:rowId xmlns:a16="http://schemas.microsoft.com/office/drawing/2014/main" val="4022443876"/>
                  </a:ext>
                </a:extLst>
              </a:tr>
              <a:tr h="531615">
                <a:tc>
                  <a:txBody>
                    <a:bodyPr/>
                    <a:lstStyle/>
                    <a:p>
                      <a:r>
                        <a:rPr lang="en-US" dirty="0"/>
                        <a:t>F</a:t>
                      </a:r>
                    </a:p>
                  </a:txBody>
                  <a:tcPr/>
                </a:tc>
                <a:tc>
                  <a:txBody>
                    <a:bodyPr/>
                    <a:lstStyle/>
                    <a:p>
                      <a:r>
                        <a:rPr lang="en-US" dirty="0"/>
                        <a:t>Operational</a:t>
                      </a:r>
                    </a:p>
                    <a:p>
                      <a:pPr lvl="0">
                        <a:buNone/>
                      </a:pPr>
                      <a:r>
                        <a:rPr lang="en-US" dirty="0"/>
                        <a:t>Temperature</a:t>
                      </a:r>
                    </a:p>
                    <a:p>
                      <a:pPr lvl="0">
                        <a:buNone/>
                      </a:pPr>
                      <a:r>
                        <a:rPr lang="en-US" dirty="0"/>
                        <a:t>Range</a:t>
                      </a:r>
                    </a:p>
                  </a:txBody>
                  <a:tcPr/>
                </a:tc>
                <a:tc>
                  <a:txBody>
                    <a:bodyPr/>
                    <a:lstStyle/>
                    <a:p>
                      <a:r>
                        <a:rPr lang="en-US" dirty="0"/>
                        <a:t>How wide of a Temperature range the CubeSat controls can operate at</a:t>
                      </a:r>
                    </a:p>
                  </a:txBody>
                  <a:tcPr/>
                </a:tc>
                <a:tc>
                  <a:txBody>
                    <a:bodyPr/>
                    <a:lstStyle/>
                    <a:p>
                      <a:r>
                        <a:rPr lang="en-US" dirty="0"/>
                        <a:t>Celsius</a:t>
                      </a:r>
                    </a:p>
                  </a:txBody>
                  <a:tcPr/>
                </a:tc>
                <a:tc>
                  <a:txBody>
                    <a:bodyPr/>
                    <a:lstStyle/>
                    <a:p>
                      <a:r>
                        <a:rPr lang="en-US" dirty="0"/>
                        <a:t>-40&gt;x&lt; 85</a:t>
                      </a:r>
                    </a:p>
                  </a:txBody>
                  <a:tcPr/>
                </a:tc>
                <a:extLst>
                  <a:ext uri="{0D108BD9-81ED-4DB2-BD59-A6C34878D82A}">
                    <a16:rowId xmlns:a16="http://schemas.microsoft.com/office/drawing/2014/main" val="2358593434"/>
                  </a:ext>
                </a:extLst>
              </a:tr>
              <a:tr h="531614">
                <a:tc>
                  <a:txBody>
                    <a:bodyPr/>
                    <a:lstStyle/>
                    <a:p>
                      <a:pPr lvl="0">
                        <a:buNone/>
                      </a:pPr>
                      <a:r>
                        <a:rPr lang="en-US" dirty="0"/>
                        <a:t>F</a:t>
                      </a:r>
                    </a:p>
                  </a:txBody>
                  <a:tcPr/>
                </a:tc>
                <a:tc>
                  <a:txBody>
                    <a:bodyPr/>
                    <a:lstStyle/>
                    <a:p>
                      <a:pPr lvl="0">
                        <a:buNone/>
                      </a:pPr>
                      <a:r>
                        <a:rPr lang="en-US" dirty="0"/>
                        <a:t>Cost</a:t>
                      </a:r>
                    </a:p>
                  </a:txBody>
                  <a:tcPr/>
                </a:tc>
                <a:tc>
                  <a:txBody>
                    <a:bodyPr/>
                    <a:lstStyle/>
                    <a:p>
                      <a:pPr lvl="0">
                        <a:buNone/>
                      </a:pPr>
                      <a:r>
                        <a:rPr lang="en-US" dirty="0"/>
                        <a:t>How much the control section costs to produce</a:t>
                      </a:r>
                    </a:p>
                  </a:txBody>
                  <a:tcPr/>
                </a:tc>
                <a:tc>
                  <a:txBody>
                    <a:bodyPr/>
                    <a:lstStyle/>
                    <a:p>
                      <a:pPr lvl="0">
                        <a:buNone/>
                      </a:pPr>
                      <a:r>
                        <a:rPr lang="en-US" dirty="0"/>
                        <a:t>Dollars</a:t>
                      </a:r>
                    </a:p>
                  </a:txBody>
                  <a:tcPr/>
                </a:tc>
                <a:tc>
                  <a:txBody>
                    <a:bodyPr/>
                    <a:lstStyle/>
                    <a:p>
                      <a:pPr lvl="0">
                        <a:buNone/>
                      </a:pPr>
                      <a:r>
                        <a:rPr lang="en-US" dirty="0"/>
                        <a:t>x&lt;1500</a:t>
                      </a:r>
                    </a:p>
                  </a:txBody>
                  <a:tcPr/>
                </a:tc>
                <a:extLst>
                  <a:ext uri="{0D108BD9-81ED-4DB2-BD59-A6C34878D82A}">
                    <a16:rowId xmlns:a16="http://schemas.microsoft.com/office/drawing/2014/main" val="1589841229"/>
                  </a:ext>
                </a:extLst>
              </a:tr>
            </a:tbl>
          </a:graphicData>
        </a:graphic>
      </p:graphicFrame>
    </p:spTree>
    <p:extLst>
      <p:ext uri="{BB962C8B-B14F-4D97-AF65-F5344CB8AC3E}">
        <p14:creationId xmlns:p14="http://schemas.microsoft.com/office/powerpoint/2010/main" val="3238783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5251F-E733-486C-9AD2-C5E97AED5DF2}"/>
              </a:ext>
            </a:extLst>
          </p:cNvPr>
          <p:cNvSpPr>
            <a:spLocks noGrp="1"/>
          </p:cNvSpPr>
          <p:nvPr>
            <p:ph type="title"/>
          </p:nvPr>
        </p:nvSpPr>
        <p:spPr/>
        <p:txBody>
          <a:bodyPr/>
          <a:lstStyle/>
          <a:p>
            <a:r>
              <a:rPr lang="en-US" dirty="0"/>
              <a:t>Benchmarking</a:t>
            </a:r>
          </a:p>
        </p:txBody>
      </p:sp>
      <p:sp>
        <p:nvSpPr>
          <p:cNvPr id="3" name="Content Placeholder 2">
            <a:extLst>
              <a:ext uri="{FF2B5EF4-FFF2-40B4-BE49-F238E27FC236}">
                <a16:creationId xmlns:a16="http://schemas.microsoft.com/office/drawing/2014/main" id="{43D7B0FB-2CF6-4AE0-8331-AED94AC4DC3A}"/>
              </a:ext>
            </a:extLst>
          </p:cNvPr>
          <p:cNvSpPr>
            <a:spLocks noGrp="1"/>
          </p:cNvSpPr>
          <p:nvPr>
            <p:ph idx="1"/>
          </p:nvPr>
        </p:nvSpPr>
        <p:spPr>
          <a:xfrm>
            <a:off x="677334" y="1638300"/>
            <a:ext cx="8596668" cy="4940299"/>
          </a:xfrm>
        </p:spPr>
        <p:txBody>
          <a:bodyPr vert="horz" lIns="91440" tIns="45720" rIns="91440" bIns="45720" rtlCol="0" anchor="t">
            <a:normAutofit/>
          </a:bodyPr>
          <a:lstStyle/>
          <a:p>
            <a:r>
              <a:rPr lang="en-US" dirty="0"/>
              <a:t>After looking at the </a:t>
            </a:r>
            <a:r>
              <a:rPr lang="en-US" dirty="0" err="1"/>
              <a:t>OreSat</a:t>
            </a:r>
            <a:r>
              <a:rPr lang="en-US" dirty="0"/>
              <a:t> satellite, they used four reaction wheels to control the CubeSat. One for each direction in the X and Y axis. Three magnetorquers are being used for the X, Y, and Z directions.</a:t>
            </a:r>
          </a:p>
          <a:p>
            <a:r>
              <a:rPr lang="en-US" dirty="0"/>
              <a:t>Some deficiencies that have been seen is not using attitude control for their satellite. Attitude control is important for our CubeSat because it is important for orbit control and orienting the CubeSat.</a:t>
            </a:r>
            <a:endParaRPr lang="en-US" sz="1800" dirty="0"/>
          </a:p>
          <a:p>
            <a:pPr marL="0" indent="0">
              <a:buNone/>
            </a:pPr>
            <a:endParaRPr lang="en-US" dirty="0"/>
          </a:p>
          <a:p>
            <a:pPr marL="0" indent="0">
              <a:buNone/>
            </a:pPr>
            <a:endParaRPr lang="en-US" sz="1800" dirty="0"/>
          </a:p>
        </p:txBody>
      </p:sp>
      <p:pic>
        <p:nvPicPr>
          <p:cNvPr id="4" name="Picture 3" descr="A satellite with a long antenna&#10;&#10;Description automatically generated">
            <a:extLst>
              <a:ext uri="{FF2B5EF4-FFF2-40B4-BE49-F238E27FC236}">
                <a16:creationId xmlns:a16="http://schemas.microsoft.com/office/drawing/2014/main" id="{E9AB6F06-EAA5-5B6A-DD1C-F6284B6FAF89}"/>
              </a:ext>
            </a:extLst>
          </p:cNvPr>
          <p:cNvPicPr>
            <a:picLocks noChangeAspect="1"/>
          </p:cNvPicPr>
          <p:nvPr/>
        </p:nvPicPr>
        <p:blipFill>
          <a:blip r:embed="rId3"/>
          <a:stretch>
            <a:fillRect/>
          </a:stretch>
        </p:blipFill>
        <p:spPr>
          <a:xfrm>
            <a:off x="2888284" y="3967459"/>
            <a:ext cx="4181475" cy="2290652"/>
          </a:xfrm>
          <a:prstGeom prst="rect">
            <a:avLst/>
          </a:prstGeom>
        </p:spPr>
      </p:pic>
    </p:spTree>
    <p:extLst>
      <p:ext uri="{BB962C8B-B14F-4D97-AF65-F5344CB8AC3E}">
        <p14:creationId xmlns:p14="http://schemas.microsoft.com/office/powerpoint/2010/main" val="161139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5251F-E733-486C-9AD2-C5E97AED5DF2}"/>
              </a:ext>
            </a:extLst>
          </p:cNvPr>
          <p:cNvSpPr>
            <a:spLocks noGrp="1"/>
          </p:cNvSpPr>
          <p:nvPr>
            <p:ph type="title"/>
          </p:nvPr>
        </p:nvSpPr>
        <p:spPr/>
        <p:txBody>
          <a:bodyPr/>
          <a:lstStyle/>
          <a:p>
            <a:r>
              <a:rPr lang="en-US" dirty="0"/>
              <a:t>Market Analysis</a:t>
            </a:r>
          </a:p>
        </p:txBody>
      </p:sp>
      <p:sp>
        <p:nvSpPr>
          <p:cNvPr id="3" name="Content Placeholder 2">
            <a:extLst>
              <a:ext uri="{FF2B5EF4-FFF2-40B4-BE49-F238E27FC236}">
                <a16:creationId xmlns:a16="http://schemas.microsoft.com/office/drawing/2014/main" id="{43D7B0FB-2CF6-4AE0-8331-AED94AC4DC3A}"/>
              </a:ext>
            </a:extLst>
          </p:cNvPr>
          <p:cNvSpPr>
            <a:spLocks noGrp="1"/>
          </p:cNvSpPr>
          <p:nvPr>
            <p:ph idx="1"/>
          </p:nvPr>
        </p:nvSpPr>
        <p:spPr>
          <a:xfrm>
            <a:off x="677334" y="1638300"/>
            <a:ext cx="8596668" cy="4940299"/>
          </a:xfrm>
        </p:spPr>
        <p:txBody>
          <a:bodyPr vert="horz" lIns="91440" tIns="45720" rIns="91440" bIns="45720" rtlCol="0" anchor="t">
            <a:normAutofit/>
          </a:bodyPr>
          <a:lstStyle/>
          <a:p>
            <a:pPr marL="0" indent="0">
              <a:buNone/>
            </a:pPr>
            <a:endParaRPr lang="en-US" sz="1800" dirty="0"/>
          </a:p>
          <a:p>
            <a:r>
              <a:rPr lang="en-US" dirty="0"/>
              <a:t>Utah Department of Water Resources</a:t>
            </a:r>
          </a:p>
          <a:p>
            <a:r>
              <a:rPr lang="en-US" dirty="0"/>
              <a:t>Washington County Water Conservancy District.</a:t>
            </a:r>
          </a:p>
          <a:p>
            <a:r>
              <a:rPr lang="en-US" dirty="0"/>
              <a:t>Mainly this is for Utah, but other states such as Arizona and Idaho want in as well.</a:t>
            </a:r>
          </a:p>
          <a:p>
            <a:endParaRPr lang="en-US" sz="1800" dirty="0"/>
          </a:p>
          <a:p>
            <a:endParaRPr lang="en-US" sz="1800" dirty="0"/>
          </a:p>
        </p:txBody>
      </p:sp>
      <p:pic>
        <p:nvPicPr>
          <p:cNvPr id="5" name="Picture 4" descr="Utah Division of Water Resources | LinkedIn">
            <a:extLst>
              <a:ext uri="{FF2B5EF4-FFF2-40B4-BE49-F238E27FC236}">
                <a16:creationId xmlns:a16="http://schemas.microsoft.com/office/drawing/2014/main" id="{06730C11-B447-43F5-6BAA-F63F28E72B33}"/>
              </a:ext>
            </a:extLst>
          </p:cNvPr>
          <p:cNvPicPr>
            <a:picLocks noChangeAspect="1"/>
          </p:cNvPicPr>
          <p:nvPr/>
        </p:nvPicPr>
        <p:blipFill>
          <a:blip r:embed="rId3"/>
          <a:stretch>
            <a:fillRect/>
          </a:stretch>
        </p:blipFill>
        <p:spPr>
          <a:xfrm>
            <a:off x="1162050" y="3981450"/>
            <a:ext cx="2286000" cy="2400300"/>
          </a:xfrm>
          <a:prstGeom prst="rect">
            <a:avLst/>
          </a:prstGeom>
        </p:spPr>
      </p:pic>
      <p:pic>
        <p:nvPicPr>
          <p:cNvPr id="7" name="Picture 6" descr="Washington County Water Conservancy DistrictWashington County Water  Conservancy District">
            <a:extLst>
              <a:ext uri="{FF2B5EF4-FFF2-40B4-BE49-F238E27FC236}">
                <a16:creationId xmlns:a16="http://schemas.microsoft.com/office/drawing/2014/main" id="{DB21BEDC-F94E-1AC4-9ECB-B9DD31E91692}"/>
              </a:ext>
            </a:extLst>
          </p:cNvPr>
          <p:cNvPicPr>
            <a:picLocks noChangeAspect="1"/>
          </p:cNvPicPr>
          <p:nvPr/>
        </p:nvPicPr>
        <p:blipFill>
          <a:blip r:embed="rId4"/>
          <a:stretch>
            <a:fillRect/>
          </a:stretch>
        </p:blipFill>
        <p:spPr>
          <a:xfrm>
            <a:off x="4591050" y="4181475"/>
            <a:ext cx="2628900" cy="2000250"/>
          </a:xfrm>
          <a:prstGeom prst="rect">
            <a:avLst/>
          </a:prstGeom>
        </p:spPr>
      </p:pic>
    </p:spTree>
    <p:extLst>
      <p:ext uri="{BB962C8B-B14F-4D97-AF65-F5344CB8AC3E}">
        <p14:creationId xmlns:p14="http://schemas.microsoft.com/office/powerpoint/2010/main" val="1622132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close-up of a roll of orange foil&#10;&#10;Description automatically generated">
            <a:extLst>
              <a:ext uri="{FF2B5EF4-FFF2-40B4-BE49-F238E27FC236}">
                <a16:creationId xmlns:a16="http://schemas.microsoft.com/office/drawing/2014/main" id="{A14DDFBB-A754-42F3-6D70-031E15BCD4CB}"/>
              </a:ext>
            </a:extLst>
          </p:cNvPr>
          <p:cNvPicPr>
            <a:picLocks noChangeAspect="1"/>
          </p:cNvPicPr>
          <p:nvPr/>
        </p:nvPicPr>
        <p:blipFill>
          <a:blip r:embed="rId3"/>
          <a:stretch>
            <a:fillRect/>
          </a:stretch>
        </p:blipFill>
        <p:spPr>
          <a:xfrm>
            <a:off x="3199174" y="3054533"/>
            <a:ext cx="2897402" cy="1928426"/>
          </a:xfrm>
          <a:prstGeom prst="rect">
            <a:avLst/>
          </a:prstGeom>
        </p:spPr>
      </p:pic>
      <p:sp>
        <p:nvSpPr>
          <p:cNvPr id="2" name="Title 1">
            <a:extLst>
              <a:ext uri="{FF2B5EF4-FFF2-40B4-BE49-F238E27FC236}">
                <a16:creationId xmlns:a16="http://schemas.microsoft.com/office/drawing/2014/main" id="{C335251F-E733-486C-9AD2-C5E97AED5DF2}"/>
              </a:ext>
            </a:extLst>
          </p:cNvPr>
          <p:cNvSpPr>
            <a:spLocks noGrp="1"/>
          </p:cNvSpPr>
          <p:nvPr>
            <p:ph type="title"/>
          </p:nvPr>
        </p:nvSpPr>
        <p:spPr/>
        <p:txBody>
          <a:bodyPr/>
          <a:lstStyle/>
          <a:p>
            <a:r>
              <a:rPr lang="en-US" dirty="0"/>
              <a:t>Concept Generation</a:t>
            </a:r>
          </a:p>
        </p:txBody>
      </p:sp>
      <p:sp>
        <p:nvSpPr>
          <p:cNvPr id="3" name="Content Placeholder 2">
            <a:extLst>
              <a:ext uri="{FF2B5EF4-FFF2-40B4-BE49-F238E27FC236}">
                <a16:creationId xmlns:a16="http://schemas.microsoft.com/office/drawing/2014/main" id="{43D7B0FB-2CF6-4AE0-8331-AED94AC4DC3A}"/>
              </a:ext>
            </a:extLst>
          </p:cNvPr>
          <p:cNvSpPr>
            <a:spLocks noGrp="1"/>
          </p:cNvSpPr>
          <p:nvPr>
            <p:ph idx="1"/>
          </p:nvPr>
        </p:nvSpPr>
        <p:spPr>
          <a:xfrm>
            <a:off x="574361" y="1916327"/>
            <a:ext cx="8596668" cy="4940299"/>
          </a:xfrm>
        </p:spPr>
        <p:txBody>
          <a:bodyPr vert="horz" lIns="91440" tIns="45720" rIns="91440" bIns="45720" rtlCol="0" anchor="t">
            <a:normAutofit/>
          </a:bodyPr>
          <a:lstStyle/>
          <a:p>
            <a:r>
              <a:rPr lang="en-US" dirty="0"/>
              <a:t>Idea 1:  Reaction Wheels</a:t>
            </a:r>
            <a:endParaRPr lang="en-US" dirty="0">
              <a:solidFill>
                <a:srgbClr val="000000"/>
              </a:solidFill>
            </a:endParaRPr>
          </a:p>
          <a:p>
            <a:endParaRPr lang="en-US" dirty="0"/>
          </a:p>
          <a:p>
            <a:endParaRPr lang="en-US" dirty="0"/>
          </a:p>
          <a:p>
            <a:endParaRPr lang="en-US" dirty="0"/>
          </a:p>
          <a:p>
            <a:r>
              <a:rPr lang="en-US" dirty="0"/>
              <a:t>Idea 2:  Magnetorquers</a:t>
            </a:r>
            <a:endParaRPr lang="en-US" dirty="0">
              <a:solidFill>
                <a:srgbClr val="000000"/>
              </a:solidFill>
            </a:endParaRPr>
          </a:p>
          <a:p>
            <a:endParaRPr lang="en-US" dirty="0"/>
          </a:p>
          <a:p>
            <a:endParaRPr lang="en-US" dirty="0"/>
          </a:p>
          <a:p>
            <a:endParaRPr lang="en-US" dirty="0"/>
          </a:p>
          <a:p>
            <a:r>
              <a:rPr lang="en-US" dirty="0"/>
              <a:t>Idea 3: Gas Rocket(Liquid Hydrogen/Oxygen)</a:t>
            </a:r>
          </a:p>
          <a:p>
            <a:pPr marL="0" indent="0">
              <a:buNone/>
            </a:pPr>
            <a:endParaRPr lang="en-US" dirty="0"/>
          </a:p>
          <a:p>
            <a:pPr marL="0" indent="0">
              <a:buNone/>
            </a:pPr>
            <a:endParaRPr lang="en-US" sz="1800" dirty="0"/>
          </a:p>
          <a:p>
            <a:pPr marL="0" indent="0">
              <a:buNone/>
            </a:pPr>
            <a:endParaRPr lang="en-US" dirty="0"/>
          </a:p>
          <a:p>
            <a:pPr marL="0" indent="0">
              <a:buNone/>
            </a:pPr>
            <a:endParaRPr lang="en-US" dirty="0"/>
          </a:p>
        </p:txBody>
      </p:sp>
      <p:pic>
        <p:nvPicPr>
          <p:cNvPr id="5" name="Picture 4" descr="A close-up of a metal object&#10;&#10;Description automatically generated">
            <a:extLst>
              <a:ext uri="{FF2B5EF4-FFF2-40B4-BE49-F238E27FC236}">
                <a16:creationId xmlns:a16="http://schemas.microsoft.com/office/drawing/2014/main" id="{AE56DB25-2CC7-0AEF-0AA7-A0DB4CC7B477}"/>
              </a:ext>
            </a:extLst>
          </p:cNvPr>
          <p:cNvPicPr>
            <a:picLocks noChangeAspect="1"/>
          </p:cNvPicPr>
          <p:nvPr/>
        </p:nvPicPr>
        <p:blipFill>
          <a:blip r:embed="rId4"/>
          <a:stretch>
            <a:fillRect/>
          </a:stretch>
        </p:blipFill>
        <p:spPr>
          <a:xfrm>
            <a:off x="5767462" y="4876596"/>
            <a:ext cx="2619375" cy="1743075"/>
          </a:xfrm>
          <a:prstGeom prst="rect">
            <a:avLst/>
          </a:prstGeom>
        </p:spPr>
      </p:pic>
      <p:pic>
        <p:nvPicPr>
          <p:cNvPr id="7" name="Picture 6" descr="A close-up of a metal machine&#10;&#10;Description automatically generated">
            <a:extLst>
              <a:ext uri="{FF2B5EF4-FFF2-40B4-BE49-F238E27FC236}">
                <a16:creationId xmlns:a16="http://schemas.microsoft.com/office/drawing/2014/main" id="{3AEB6EC4-A9CD-9DD4-DD7B-E0F0DDDF535C}"/>
              </a:ext>
            </a:extLst>
          </p:cNvPr>
          <p:cNvPicPr>
            <a:picLocks noChangeAspect="1"/>
          </p:cNvPicPr>
          <p:nvPr/>
        </p:nvPicPr>
        <p:blipFill>
          <a:blip r:embed="rId5"/>
          <a:stretch>
            <a:fillRect/>
          </a:stretch>
        </p:blipFill>
        <p:spPr>
          <a:xfrm>
            <a:off x="4116570" y="1626683"/>
            <a:ext cx="3542270" cy="1574621"/>
          </a:xfrm>
          <a:prstGeom prst="rect">
            <a:avLst/>
          </a:prstGeom>
        </p:spPr>
      </p:pic>
    </p:spTree>
    <p:extLst>
      <p:ext uri="{BB962C8B-B14F-4D97-AF65-F5344CB8AC3E}">
        <p14:creationId xmlns:p14="http://schemas.microsoft.com/office/powerpoint/2010/main" val="3078869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5251F-E733-486C-9AD2-C5E97AED5DF2}"/>
              </a:ext>
            </a:extLst>
          </p:cNvPr>
          <p:cNvSpPr>
            <a:spLocks noGrp="1"/>
          </p:cNvSpPr>
          <p:nvPr>
            <p:ph type="title"/>
          </p:nvPr>
        </p:nvSpPr>
        <p:spPr/>
        <p:txBody>
          <a:bodyPr/>
          <a:lstStyle/>
          <a:p>
            <a:r>
              <a:rPr lang="en-US" dirty="0"/>
              <a:t>Decision Matrix</a:t>
            </a:r>
          </a:p>
        </p:txBody>
      </p:sp>
      <p:graphicFrame>
        <p:nvGraphicFramePr>
          <p:cNvPr id="4" name="Table 3">
            <a:extLst>
              <a:ext uri="{FF2B5EF4-FFF2-40B4-BE49-F238E27FC236}">
                <a16:creationId xmlns:a16="http://schemas.microsoft.com/office/drawing/2014/main" id="{AA3F5E08-C5AD-5A9A-2E5A-EB98770AFE4D}"/>
              </a:ext>
            </a:extLst>
          </p:cNvPr>
          <p:cNvGraphicFramePr>
            <a:graphicFrameLocks noGrp="1"/>
          </p:cNvGraphicFramePr>
          <p:nvPr>
            <p:extLst>
              <p:ext uri="{D42A27DB-BD31-4B8C-83A1-F6EECF244321}">
                <p14:modId xmlns:p14="http://schemas.microsoft.com/office/powerpoint/2010/main" val="3507443506"/>
              </p:ext>
            </p:extLst>
          </p:nvPr>
        </p:nvGraphicFramePr>
        <p:xfrm>
          <a:off x="397083" y="2108929"/>
          <a:ext cx="8883019" cy="3677920"/>
        </p:xfrm>
        <a:graphic>
          <a:graphicData uri="http://schemas.openxmlformats.org/drawingml/2006/table">
            <a:tbl>
              <a:tblPr firstRow="1" bandRow="1">
                <a:tableStyleId>{5C22544A-7EE6-4342-B048-85BDC9FD1C3A}</a:tableStyleId>
              </a:tblPr>
              <a:tblGrid>
                <a:gridCol w="1635124">
                  <a:extLst>
                    <a:ext uri="{9D8B030D-6E8A-4147-A177-3AD203B41FA5}">
                      <a16:colId xmlns:a16="http://schemas.microsoft.com/office/drawing/2014/main" val="2769435521"/>
                    </a:ext>
                  </a:extLst>
                </a:gridCol>
                <a:gridCol w="931060">
                  <a:extLst>
                    <a:ext uri="{9D8B030D-6E8A-4147-A177-3AD203B41FA5}">
                      <a16:colId xmlns:a16="http://schemas.microsoft.com/office/drawing/2014/main" val="3221814734"/>
                    </a:ext>
                  </a:extLst>
                </a:gridCol>
                <a:gridCol w="1035365">
                  <a:extLst>
                    <a:ext uri="{9D8B030D-6E8A-4147-A177-3AD203B41FA5}">
                      <a16:colId xmlns:a16="http://schemas.microsoft.com/office/drawing/2014/main" val="3851199302"/>
                    </a:ext>
                  </a:extLst>
                </a:gridCol>
                <a:gridCol w="1043339">
                  <a:extLst>
                    <a:ext uri="{9D8B030D-6E8A-4147-A177-3AD203B41FA5}">
                      <a16:colId xmlns:a16="http://schemas.microsoft.com/office/drawing/2014/main" val="3120982118"/>
                    </a:ext>
                  </a:extLst>
                </a:gridCol>
                <a:gridCol w="1052760">
                  <a:extLst>
                    <a:ext uri="{9D8B030D-6E8A-4147-A177-3AD203B41FA5}">
                      <a16:colId xmlns:a16="http://schemas.microsoft.com/office/drawing/2014/main" val="96594213"/>
                    </a:ext>
                  </a:extLst>
                </a:gridCol>
                <a:gridCol w="1075878">
                  <a:extLst>
                    <a:ext uri="{9D8B030D-6E8A-4147-A177-3AD203B41FA5}">
                      <a16:colId xmlns:a16="http://schemas.microsoft.com/office/drawing/2014/main" val="3091668514"/>
                    </a:ext>
                  </a:extLst>
                </a:gridCol>
                <a:gridCol w="1076390">
                  <a:extLst>
                    <a:ext uri="{9D8B030D-6E8A-4147-A177-3AD203B41FA5}">
                      <a16:colId xmlns:a16="http://schemas.microsoft.com/office/drawing/2014/main" val="3185811987"/>
                    </a:ext>
                  </a:extLst>
                </a:gridCol>
                <a:gridCol w="1033103">
                  <a:extLst>
                    <a:ext uri="{9D8B030D-6E8A-4147-A177-3AD203B41FA5}">
                      <a16:colId xmlns:a16="http://schemas.microsoft.com/office/drawing/2014/main" val="3199164852"/>
                    </a:ext>
                  </a:extLst>
                </a:gridCol>
              </a:tblGrid>
              <a:tr h="370840">
                <a:tc>
                  <a:txBody>
                    <a:bodyPr/>
                    <a:lstStyle/>
                    <a:p>
                      <a:r>
                        <a:rPr lang="en-US" dirty="0"/>
                        <a:t>Metric</a:t>
                      </a:r>
                    </a:p>
                  </a:txBody>
                  <a:tcPr/>
                </a:tc>
                <a:tc>
                  <a:txBody>
                    <a:bodyPr/>
                    <a:lstStyle/>
                    <a:p>
                      <a:r>
                        <a:rPr lang="en-US" dirty="0"/>
                        <a:t>Weight</a:t>
                      </a:r>
                    </a:p>
                  </a:txBody>
                  <a:tcPr/>
                </a:tc>
                <a:tc>
                  <a:txBody>
                    <a:bodyPr/>
                    <a:lstStyle/>
                    <a:p>
                      <a:r>
                        <a:rPr lang="en-US" dirty="0"/>
                        <a:t>Rank(1)</a:t>
                      </a:r>
                    </a:p>
                  </a:txBody>
                  <a:tcPr/>
                </a:tc>
                <a:tc>
                  <a:txBody>
                    <a:bodyPr/>
                    <a:lstStyle/>
                    <a:p>
                      <a:r>
                        <a:rPr lang="en-US" dirty="0"/>
                        <a:t>Total(1)</a:t>
                      </a:r>
                    </a:p>
                  </a:txBody>
                  <a:tcPr/>
                </a:tc>
                <a:tc>
                  <a:txBody>
                    <a:bodyPr/>
                    <a:lstStyle/>
                    <a:p>
                      <a:pPr lvl="0">
                        <a:buNone/>
                      </a:pPr>
                      <a:r>
                        <a:rPr lang="en-US" sz="1800" b="1" i="0" u="none" strike="noStrike" noProof="0" dirty="0">
                          <a:solidFill>
                            <a:srgbClr val="FFFFFF"/>
                          </a:solidFill>
                          <a:latin typeface="Trebuchet MS"/>
                        </a:rPr>
                        <a:t>Rank(2)</a:t>
                      </a:r>
                      <a:endParaRPr lang="en-US" dirty="0"/>
                    </a:p>
                  </a:txBody>
                  <a:tcPr/>
                </a:tc>
                <a:tc>
                  <a:txBody>
                    <a:bodyPr/>
                    <a:lstStyle/>
                    <a:p>
                      <a:pPr lvl="0">
                        <a:buNone/>
                      </a:pPr>
                      <a:r>
                        <a:rPr lang="en-US" sz="1800" b="1" i="0" u="none" strike="noStrike" noProof="0" dirty="0">
                          <a:solidFill>
                            <a:srgbClr val="FFFFFF"/>
                          </a:solidFill>
                          <a:latin typeface="Trebuchet MS"/>
                        </a:rPr>
                        <a:t>Total(2)</a:t>
                      </a:r>
                      <a:endParaRPr lang="en-US" dirty="0"/>
                    </a:p>
                  </a:txBody>
                  <a:tcPr/>
                </a:tc>
                <a:tc>
                  <a:txBody>
                    <a:bodyPr/>
                    <a:lstStyle/>
                    <a:p>
                      <a:pPr lvl="0">
                        <a:buNone/>
                      </a:pPr>
                      <a:r>
                        <a:rPr lang="en-US" sz="1800" b="1" i="0" u="none" strike="noStrike" noProof="0" dirty="0">
                          <a:solidFill>
                            <a:srgbClr val="FFFFFF"/>
                          </a:solidFill>
                          <a:latin typeface="Trebuchet MS"/>
                        </a:rPr>
                        <a:t>Rank(3)</a:t>
                      </a:r>
                      <a:endParaRPr lang="en-US" dirty="0"/>
                    </a:p>
                  </a:txBody>
                  <a:tcPr/>
                </a:tc>
                <a:tc>
                  <a:txBody>
                    <a:bodyPr/>
                    <a:lstStyle/>
                    <a:p>
                      <a:pPr lvl="0">
                        <a:buNone/>
                      </a:pPr>
                      <a:r>
                        <a:rPr lang="en-US" sz="1800" b="1" i="0" u="none" strike="noStrike" noProof="0" dirty="0">
                          <a:solidFill>
                            <a:srgbClr val="FFFFFF"/>
                          </a:solidFill>
                          <a:latin typeface="Trebuchet MS"/>
                        </a:rPr>
                        <a:t>Total(3)</a:t>
                      </a:r>
                      <a:endParaRPr lang="en-US" dirty="0"/>
                    </a:p>
                  </a:txBody>
                  <a:tcPr/>
                </a:tc>
                <a:extLst>
                  <a:ext uri="{0D108BD9-81ED-4DB2-BD59-A6C34878D82A}">
                    <a16:rowId xmlns:a16="http://schemas.microsoft.com/office/drawing/2014/main" val="3384294299"/>
                  </a:ext>
                </a:extLst>
              </a:tr>
              <a:tr h="370840">
                <a:tc>
                  <a:txBody>
                    <a:bodyPr/>
                    <a:lstStyle/>
                    <a:p>
                      <a:r>
                        <a:rPr lang="en-US" dirty="0"/>
                        <a:t>Rotating Accuracy</a:t>
                      </a:r>
                    </a:p>
                  </a:txBody>
                  <a:tcPr/>
                </a:tc>
                <a:tc>
                  <a:txBody>
                    <a:bodyPr/>
                    <a:lstStyle/>
                    <a:p>
                      <a:r>
                        <a:rPr lang="en-US" dirty="0"/>
                        <a:t>60</a:t>
                      </a:r>
                    </a:p>
                  </a:txBody>
                  <a:tcPr/>
                </a:tc>
                <a:tc>
                  <a:txBody>
                    <a:bodyPr/>
                    <a:lstStyle/>
                    <a:p>
                      <a:r>
                        <a:rPr lang="en-US" dirty="0"/>
                        <a:t>3</a:t>
                      </a:r>
                    </a:p>
                  </a:txBody>
                  <a:tcPr/>
                </a:tc>
                <a:tc>
                  <a:txBody>
                    <a:bodyPr/>
                    <a:lstStyle/>
                    <a:p>
                      <a:r>
                        <a:rPr lang="en-US" dirty="0"/>
                        <a:t>180</a:t>
                      </a:r>
                    </a:p>
                  </a:txBody>
                  <a:tcPr/>
                </a:tc>
                <a:tc>
                  <a:txBody>
                    <a:bodyPr/>
                    <a:lstStyle/>
                    <a:p>
                      <a:r>
                        <a:rPr lang="en-US" dirty="0"/>
                        <a:t>1</a:t>
                      </a:r>
                    </a:p>
                  </a:txBody>
                  <a:tcPr/>
                </a:tc>
                <a:tc>
                  <a:txBody>
                    <a:bodyPr/>
                    <a:lstStyle/>
                    <a:p>
                      <a:r>
                        <a:rPr lang="en-US" dirty="0"/>
                        <a:t>60</a:t>
                      </a:r>
                    </a:p>
                  </a:txBody>
                  <a:tcPr/>
                </a:tc>
                <a:tc>
                  <a:txBody>
                    <a:bodyPr/>
                    <a:lstStyle/>
                    <a:p>
                      <a:r>
                        <a:rPr lang="en-US" dirty="0"/>
                        <a:t>2</a:t>
                      </a:r>
                    </a:p>
                  </a:txBody>
                  <a:tcPr/>
                </a:tc>
                <a:tc>
                  <a:txBody>
                    <a:bodyPr/>
                    <a:lstStyle/>
                    <a:p>
                      <a:r>
                        <a:rPr lang="en-US" dirty="0"/>
                        <a:t>120</a:t>
                      </a:r>
                    </a:p>
                  </a:txBody>
                  <a:tcPr/>
                </a:tc>
                <a:extLst>
                  <a:ext uri="{0D108BD9-81ED-4DB2-BD59-A6C34878D82A}">
                    <a16:rowId xmlns:a16="http://schemas.microsoft.com/office/drawing/2014/main" val="2215502473"/>
                  </a:ext>
                </a:extLst>
              </a:tr>
              <a:tr h="370840">
                <a:tc>
                  <a:txBody>
                    <a:bodyPr/>
                    <a:lstStyle/>
                    <a:p>
                      <a:r>
                        <a:rPr lang="en-US" dirty="0"/>
                        <a:t>Power Consumption</a:t>
                      </a:r>
                    </a:p>
                  </a:txBody>
                  <a:tcPr/>
                </a:tc>
                <a:tc>
                  <a:txBody>
                    <a:bodyPr/>
                    <a:lstStyle/>
                    <a:p>
                      <a:r>
                        <a:rPr lang="en-US" dirty="0"/>
                        <a:t>10</a:t>
                      </a:r>
                    </a:p>
                  </a:txBody>
                  <a:tcPr/>
                </a:tc>
                <a:tc>
                  <a:txBody>
                    <a:bodyPr/>
                    <a:lstStyle/>
                    <a:p>
                      <a:r>
                        <a:rPr lang="en-US" dirty="0"/>
                        <a:t>1</a:t>
                      </a:r>
                    </a:p>
                  </a:txBody>
                  <a:tcPr/>
                </a:tc>
                <a:tc>
                  <a:txBody>
                    <a:bodyPr/>
                    <a:lstStyle/>
                    <a:p>
                      <a:r>
                        <a:rPr lang="en-US" dirty="0"/>
                        <a:t>10</a:t>
                      </a:r>
                    </a:p>
                  </a:txBody>
                  <a:tcPr/>
                </a:tc>
                <a:tc>
                  <a:txBody>
                    <a:bodyPr/>
                    <a:lstStyle/>
                    <a:p>
                      <a:r>
                        <a:rPr lang="en-US" dirty="0"/>
                        <a:t>2</a:t>
                      </a:r>
                    </a:p>
                  </a:txBody>
                  <a:tcPr/>
                </a:tc>
                <a:tc>
                  <a:txBody>
                    <a:bodyPr/>
                    <a:lstStyle/>
                    <a:p>
                      <a:r>
                        <a:rPr lang="en-US" dirty="0"/>
                        <a:t>20</a:t>
                      </a:r>
                    </a:p>
                  </a:txBody>
                  <a:tcPr/>
                </a:tc>
                <a:tc>
                  <a:txBody>
                    <a:bodyPr/>
                    <a:lstStyle/>
                    <a:p>
                      <a:r>
                        <a:rPr lang="en-US" dirty="0"/>
                        <a:t>3</a:t>
                      </a:r>
                    </a:p>
                  </a:txBody>
                  <a:tcPr/>
                </a:tc>
                <a:tc>
                  <a:txBody>
                    <a:bodyPr/>
                    <a:lstStyle/>
                    <a:p>
                      <a:r>
                        <a:rPr lang="en-US" dirty="0"/>
                        <a:t>30</a:t>
                      </a:r>
                    </a:p>
                  </a:txBody>
                  <a:tcPr/>
                </a:tc>
                <a:extLst>
                  <a:ext uri="{0D108BD9-81ED-4DB2-BD59-A6C34878D82A}">
                    <a16:rowId xmlns:a16="http://schemas.microsoft.com/office/drawing/2014/main" val="4248661463"/>
                  </a:ext>
                </a:extLst>
              </a:tr>
              <a:tr h="370840">
                <a:tc>
                  <a:txBody>
                    <a:bodyPr/>
                    <a:lstStyle/>
                    <a:p>
                      <a:pPr lvl="0">
                        <a:buNone/>
                      </a:pPr>
                      <a:r>
                        <a:rPr lang="en-US" sz="1800" b="0" i="0" u="none" strike="noStrike" noProof="0" dirty="0">
                          <a:solidFill>
                            <a:srgbClr val="000000"/>
                          </a:solidFill>
                          <a:latin typeface="Trebuchet MS"/>
                        </a:rPr>
                        <a:t>Operational</a:t>
                      </a:r>
                    </a:p>
                    <a:p>
                      <a:pPr lvl="0">
                        <a:buNone/>
                      </a:pPr>
                      <a:r>
                        <a:rPr lang="en-US" sz="1800" b="0" i="0" u="none" strike="noStrike" noProof="0" dirty="0">
                          <a:solidFill>
                            <a:srgbClr val="000000"/>
                          </a:solidFill>
                          <a:latin typeface="Trebuchet MS"/>
                        </a:rPr>
                        <a:t>Temperature</a:t>
                      </a:r>
                    </a:p>
                    <a:p>
                      <a:pPr lvl="0">
                        <a:buNone/>
                      </a:pPr>
                      <a:r>
                        <a:rPr lang="en-US" sz="1800" b="0" i="0" u="none" strike="noStrike" noProof="0" dirty="0">
                          <a:solidFill>
                            <a:srgbClr val="000000"/>
                          </a:solidFill>
                          <a:latin typeface="Trebuchet MS"/>
                        </a:rPr>
                        <a:t>Range</a:t>
                      </a:r>
                      <a:endParaRPr lang="en-US" dirty="0"/>
                    </a:p>
                  </a:txBody>
                  <a:tcPr/>
                </a:tc>
                <a:tc>
                  <a:txBody>
                    <a:bodyPr/>
                    <a:lstStyle/>
                    <a:p>
                      <a:r>
                        <a:rPr lang="en-US" dirty="0"/>
                        <a:t>10</a:t>
                      </a:r>
                    </a:p>
                  </a:txBody>
                  <a:tcPr/>
                </a:tc>
                <a:tc>
                  <a:txBody>
                    <a:bodyPr/>
                    <a:lstStyle/>
                    <a:p>
                      <a:r>
                        <a:rPr lang="en-US" dirty="0"/>
                        <a:t>1</a:t>
                      </a:r>
                    </a:p>
                  </a:txBody>
                  <a:tcPr/>
                </a:tc>
                <a:tc>
                  <a:txBody>
                    <a:bodyPr/>
                    <a:lstStyle/>
                    <a:p>
                      <a:pPr lvl="0">
                        <a:buNone/>
                      </a:pPr>
                      <a:r>
                        <a:rPr lang="en-US" dirty="0"/>
                        <a:t>10</a:t>
                      </a:r>
                    </a:p>
                  </a:txBody>
                  <a:tcPr/>
                </a:tc>
                <a:tc>
                  <a:txBody>
                    <a:bodyPr/>
                    <a:lstStyle/>
                    <a:p>
                      <a:r>
                        <a:rPr lang="en-US" dirty="0"/>
                        <a:t>2</a:t>
                      </a:r>
                    </a:p>
                  </a:txBody>
                  <a:tcPr/>
                </a:tc>
                <a:tc>
                  <a:txBody>
                    <a:bodyPr/>
                    <a:lstStyle/>
                    <a:p>
                      <a:r>
                        <a:rPr lang="en-US" dirty="0"/>
                        <a:t>20</a:t>
                      </a:r>
                    </a:p>
                  </a:txBody>
                  <a:tcPr/>
                </a:tc>
                <a:tc>
                  <a:txBody>
                    <a:bodyPr/>
                    <a:lstStyle/>
                    <a:p>
                      <a:r>
                        <a:rPr lang="en-US" dirty="0"/>
                        <a:t>3</a:t>
                      </a:r>
                    </a:p>
                  </a:txBody>
                  <a:tcPr/>
                </a:tc>
                <a:tc>
                  <a:txBody>
                    <a:bodyPr/>
                    <a:lstStyle/>
                    <a:p>
                      <a:r>
                        <a:rPr lang="en-US" dirty="0"/>
                        <a:t>30</a:t>
                      </a:r>
                    </a:p>
                  </a:txBody>
                  <a:tcPr/>
                </a:tc>
                <a:extLst>
                  <a:ext uri="{0D108BD9-81ED-4DB2-BD59-A6C34878D82A}">
                    <a16:rowId xmlns:a16="http://schemas.microsoft.com/office/drawing/2014/main" val="3822302797"/>
                  </a:ext>
                </a:extLst>
              </a:tr>
              <a:tr h="370840">
                <a:tc>
                  <a:txBody>
                    <a:bodyPr/>
                    <a:lstStyle/>
                    <a:p>
                      <a:r>
                        <a:rPr lang="en-US" dirty="0"/>
                        <a:t>Cost</a:t>
                      </a:r>
                    </a:p>
                  </a:txBody>
                  <a:tcPr/>
                </a:tc>
                <a:tc>
                  <a:txBody>
                    <a:bodyPr/>
                    <a:lstStyle/>
                    <a:p>
                      <a:r>
                        <a:rPr lang="en-US" dirty="0"/>
                        <a:t>20</a:t>
                      </a:r>
                    </a:p>
                  </a:txBody>
                  <a:tcPr/>
                </a:tc>
                <a:tc>
                  <a:txBody>
                    <a:bodyPr/>
                    <a:lstStyle/>
                    <a:p>
                      <a:r>
                        <a:rPr lang="en-US" dirty="0"/>
                        <a:t>2</a:t>
                      </a:r>
                    </a:p>
                  </a:txBody>
                  <a:tcPr/>
                </a:tc>
                <a:tc>
                  <a:txBody>
                    <a:bodyPr/>
                    <a:lstStyle/>
                    <a:p>
                      <a:r>
                        <a:rPr lang="en-US" dirty="0"/>
                        <a:t>40</a:t>
                      </a:r>
                    </a:p>
                  </a:txBody>
                  <a:tcPr/>
                </a:tc>
                <a:tc>
                  <a:txBody>
                    <a:bodyPr/>
                    <a:lstStyle/>
                    <a:p>
                      <a:r>
                        <a:rPr lang="en-US" dirty="0"/>
                        <a:t>3</a:t>
                      </a:r>
                    </a:p>
                  </a:txBody>
                  <a:tcPr/>
                </a:tc>
                <a:tc>
                  <a:txBody>
                    <a:bodyPr/>
                    <a:lstStyle/>
                    <a:p>
                      <a:r>
                        <a:rPr lang="en-US" dirty="0"/>
                        <a:t>60</a:t>
                      </a:r>
                    </a:p>
                  </a:txBody>
                  <a:tcPr/>
                </a:tc>
                <a:tc>
                  <a:txBody>
                    <a:bodyPr/>
                    <a:lstStyle/>
                    <a:p>
                      <a:r>
                        <a:rPr lang="en-US" dirty="0"/>
                        <a:t>1</a:t>
                      </a:r>
                    </a:p>
                  </a:txBody>
                  <a:tcPr/>
                </a:tc>
                <a:tc>
                  <a:txBody>
                    <a:bodyPr/>
                    <a:lstStyle/>
                    <a:p>
                      <a:r>
                        <a:rPr lang="en-US" dirty="0"/>
                        <a:t>20</a:t>
                      </a:r>
                    </a:p>
                  </a:txBody>
                  <a:tcPr/>
                </a:tc>
                <a:extLst>
                  <a:ext uri="{0D108BD9-81ED-4DB2-BD59-A6C34878D82A}">
                    <a16:rowId xmlns:a16="http://schemas.microsoft.com/office/drawing/2014/main" val="3979664783"/>
                  </a:ext>
                </a:extLst>
              </a:tr>
              <a:tr h="370840">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76479840"/>
                  </a:ext>
                </a:extLst>
              </a:tr>
              <a:tr h="370840">
                <a:tc>
                  <a:txBody>
                    <a:bodyPr/>
                    <a:lstStyle/>
                    <a:p>
                      <a:pPr lvl="0">
                        <a:buNone/>
                      </a:pPr>
                      <a:r>
                        <a:rPr lang="en-US" sz="1800" b="1" i="0" u="none" strike="noStrike" noProof="0" dirty="0">
                          <a:solidFill>
                            <a:srgbClr val="000000"/>
                          </a:solidFill>
                          <a:latin typeface="Trebuchet MS"/>
                        </a:rPr>
                        <a:t>TOTAL</a:t>
                      </a:r>
                      <a:endParaRPr lang="en-US" b="1" dirty="0"/>
                    </a:p>
                  </a:txBody>
                  <a:tcPr/>
                </a:tc>
                <a:tc>
                  <a:txBody>
                    <a:bodyPr/>
                    <a:lstStyle/>
                    <a:p>
                      <a:r>
                        <a:rPr lang="en-US" dirty="0"/>
                        <a:t>100</a:t>
                      </a:r>
                    </a:p>
                  </a:txBody>
                  <a:tcPr/>
                </a:tc>
                <a:tc>
                  <a:txBody>
                    <a:bodyPr/>
                    <a:lstStyle/>
                    <a:p>
                      <a:endParaRPr lang="en-US"/>
                    </a:p>
                  </a:txBody>
                  <a:tcPr/>
                </a:tc>
                <a:tc>
                  <a:txBody>
                    <a:bodyPr/>
                    <a:lstStyle/>
                    <a:p>
                      <a:r>
                        <a:rPr lang="en-US" b="1" dirty="0">
                          <a:highlight>
                            <a:srgbClr val="00FF00"/>
                          </a:highlight>
                        </a:rPr>
                        <a:t>240</a:t>
                      </a:r>
                    </a:p>
                  </a:txBody>
                  <a:tcPr/>
                </a:tc>
                <a:tc>
                  <a:txBody>
                    <a:bodyPr/>
                    <a:lstStyle/>
                    <a:p>
                      <a:endParaRPr lang="en-US"/>
                    </a:p>
                  </a:txBody>
                  <a:tcPr/>
                </a:tc>
                <a:tc>
                  <a:txBody>
                    <a:bodyPr/>
                    <a:lstStyle/>
                    <a:p>
                      <a:r>
                        <a:rPr lang="en-US" b="1" dirty="0"/>
                        <a:t>140</a:t>
                      </a:r>
                    </a:p>
                  </a:txBody>
                  <a:tcPr/>
                </a:tc>
                <a:tc>
                  <a:txBody>
                    <a:bodyPr/>
                    <a:lstStyle/>
                    <a:p>
                      <a:endParaRPr lang="en-US"/>
                    </a:p>
                  </a:txBody>
                  <a:tcPr/>
                </a:tc>
                <a:tc>
                  <a:txBody>
                    <a:bodyPr/>
                    <a:lstStyle/>
                    <a:p>
                      <a:r>
                        <a:rPr lang="en-US" b="1" dirty="0"/>
                        <a:t>200</a:t>
                      </a:r>
                    </a:p>
                  </a:txBody>
                  <a:tcPr/>
                </a:tc>
                <a:extLst>
                  <a:ext uri="{0D108BD9-81ED-4DB2-BD59-A6C34878D82A}">
                    <a16:rowId xmlns:a16="http://schemas.microsoft.com/office/drawing/2014/main" val="1165601709"/>
                  </a:ext>
                </a:extLst>
              </a:tr>
            </a:tbl>
          </a:graphicData>
        </a:graphic>
      </p:graphicFrame>
      <p:sp>
        <p:nvSpPr>
          <p:cNvPr id="6" name="Content Placeholder 5">
            <a:extLst>
              <a:ext uri="{FF2B5EF4-FFF2-40B4-BE49-F238E27FC236}">
                <a16:creationId xmlns:a16="http://schemas.microsoft.com/office/drawing/2014/main" id="{C8DCE36F-7081-53FE-B852-234C18B6BEB0}"/>
              </a:ext>
            </a:extLst>
          </p:cNvPr>
          <p:cNvSpPr>
            <a:spLocks noGrp="1"/>
          </p:cNvSpPr>
          <p:nvPr>
            <p:ph idx="1"/>
          </p:nvPr>
        </p:nvSpPr>
        <p:spPr>
          <a:xfrm>
            <a:off x="5848941" y="586622"/>
            <a:ext cx="3437552" cy="1319954"/>
          </a:xfrm>
        </p:spPr>
        <p:txBody>
          <a:bodyPr vert="horz" lIns="91440" tIns="45720" rIns="91440" bIns="45720" rtlCol="0" anchor="t">
            <a:normAutofit fontScale="92500"/>
          </a:bodyPr>
          <a:lstStyle/>
          <a:p>
            <a:r>
              <a:rPr lang="en-US" dirty="0"/>
              <a:t>Concept 1:  Reaction Wheels</a:t>
            </a:r>
          </a:p>
          <a:p>
            <a:r>
              <a:rPr lang="en-US" dirty="0"/>
              <a:t>Concept 2:  Magnetorquers</a:t>
            </a:r>
          </a:p>
          <a:p>
            <a:r>
              <a:rPr lang="en-US" dirty="0"/>
              <a:t>Concept 3: Gas Rocket</a:t>
            </a:r>
          </a:p>
          <a:p>
            <a:endParaRPr lang="en-US" dirty="0"/>
          </a:p>
        </p:txBody>
      </p:sp>
    </p:spTree>
    <p:extLst>
      <p:ext uri="{BB962C8B-B14F-4D97-AF65-F5344CB8AC3E}">
        <p14:creationId xmlns:p14="http://schemas.microsoft.com/office/powerpoint/2010/main" val="3263517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5251F-E733-486C-9AD2-C5E97AED5DF2}"/>
              </a:ext>
            </a:extLst>
          </p:cNvPr>
          <p:cNvSpPr>
            <a:spLocks noGrp="1"/>
          </p:cNvSpPr>
          <p:nvPr>
            <p:ph type="title"/>
          </p:nvPr>
        </p:nvSpPr>
        <p:spPr/>
        <p:txBody>
          <a:bodyPr/>
          <a:lstStyle/>
          <a:p>
            <a:r>
              <a:rPr lang="en-US" dirty="0"/>
              <a:t>Concept Selection</a:t>
            </a:r>
          </a:p>
        </p:txBody>
      </p:sp>
      <p:sp>
        <p:nvSpPr>
          <p:cNvPr id="3" name="Content Placeholder 2">
            <a:extLst>
              <a:ext uri="{FF2B5EF4-FFF2-40B4-BE49-F238E27FC236}">
                <a16:creationId xmlns:a16="http://schemas.microsoft.com/office/drawing/2014/main" id="{43D7B0FB-2CF6-4AE0-8331-AED94AC4DC3A}"/>
              </a:ext>
            </a:extLst>
          </p:cNvPr>
          <p:cNvSpPr>
            <a:spLocks noGrp="1"/>
          </p:cNvSpPr>
          <p:nvPr>
            <p:ph idx="1"/>
          </p:nvPr>
        </p:nvSpPr>
        <p:spPr>
          <a:xfrm>
            <a:off x="677334" y="1638300"/>
            <a:ext cx="8596668" cy="4940299"/>
          </a:xfrm>
        </p:spPr>
        <p:txBody>
          <a:bodyPr vert="horz" lIns="91440" tIns="45720" rIns="91440" bIns="45720" rtlCol="0" anchor="t">
            <a:normAutofit/>
          </a:bodyPr>
          <a:lstStyle/>
          <a:p>
            <a:r>
              <a:rPr lang="en-US" sz="2000" dirty="0"/>
              <a:t>We have decided to go with a mix of Idea 1 and Idea 2</a:t>
            </a:r>
            <a:r>
              <a:rPr lang="en-US" dirty="0"/>
              <a:t>.</a:t>
            </a:r>
          </a:p>
          <a:p>
            <a:pPr lvl="1"/>
            <a:r>
              <a:rPr lang="en-US" sz="1800" dirty="0"/>
              <a:t>4 reaction wheels to point payload at Utah.</a:t>
            </a:r>
          </a:p>
          <a:p>
            <a:pPr lvl="1"/>
            <a:r>
              <a:rPr lang="en-US" sz="1800" dirty="0"/>
              <a:t>3 magnetorquers to stabilize the CubeSat.</a:t>
            </a:r>
          </a:p>
          <a:p>
            <a:pPr marL="457200" lvl="1" indent="0">
              <a:buNone/>
            </a:pPr>
            <a:endParaRPr lang="en-US" dirty="0"/>
          </a:p>
          <a:p>
            <a:endParaRPr lang="en-US" dirty="0"/>
          </a:p>
          <a:p>
            <a:endParaRPr lang="en-US" dirty="0"/>
          </a:p>
          <a:p>
            <a:pPr marL="0" indent="0">
              <a:buNone/>
            </a:pPr>
            <a:endParaRPr lang="en-US" dirty="0"/>
          </a:p>
          <a:p>
            <a:pPr marL="0" indent="0">
              <a:buNone/>
            </a:pPr>
            <a:endParaRPr lang="en-US" sz="1800" dirty="0"/>
          </a:p>
        </p:txBody>
      </p:sp>
      <p:pic>
        <p:nvPicPr>
          <p:cNvPr id="4" name="Picture 3" descr="A close-up of a device&#10;&#10;Description automatically generated">
            <a:extLst>
              <a:ext uri="{FF2B5EF4-FFF2-40B4-BE49-F238E27FC236}">
                <a16:creationId xmlns:a16="http://schemas.microsoft.com/office/drawing/2014/main" id="{846E936D-63FA-58CD-2693-4A193EEEB79A}"/>
              </a:ext>
            </a:extLst>
          </p:cNvPr>
          <p:cNvPicPr>
            <a:picLocks noChangeAspect="1"/>
          </p:cNvPicPr>
          <p:nvPr/>
        </p:nvPicPr>
        <p:blipFill>
          <a:blip r:embed="rId3"/>
          <a:stretch>
            <a:fillRect/>
          </a:stretch>
        </p:blipFill>
        <p:spPr>
          <a:xfrm>
            <a:off x="985029" y="3636034"/>
            <a:ext cx="2943225" cy="2943225"/>
          </a:xfrm>
          <a:prstGeom prst="rect">
            <a:avLst/>
          </a:prstGeom>
        </p:spPr>
      </p:pic>
      <p:pic>
        <p:nvPicPr>
          <p:cNvPr id="5" name="Picture 4">
            <a:extLst>
              <a:ext uri="{FF2B5EF4-FFF2-40B4-BE49-F238E27FC236}">
                <a16:creationId xmlns:a16="http://schemas.microsoft.com/office/drawing/2014/main" id="{2EE5992B-138F-3A59-B803-4B022590A84B}"/>
              </a:ext>
            </a:extLst>
          </p:cNvPr>
          <p:cNvPicPr>
            <a:picLocks noChangeAspect="1"/>
          </p:cNvPicPr>
          <p:nvPr/>
        </p:nvPicPr>
        <p:blipFill>
          <a:blip r:embed="rId4"/>
          <a:stretch>
            <a:fillRect/>
          </a:stretch>
        </p:blipFill>
        <p:spPr>
          <a:xfrm>
            <a:off x="5353153" y="3429000"/>
            <a:ext cx="2809670" cy="2705100"/>
          </a:xfrm>
          <a:prstGeom prst="rect">
            <a:avLst/>
          </a:prstGeom>
        </p:spPr>
      </p:pic>
    </p:spTree>
    <p:extLst>
      <p:ext uri="{BB962C8B-B14F-4D97-AF65-F5344CB8AC3E}">
        <p14:creationId xmlns:p14="http://schemas.microsoft.com/office/powerpoint/2010/main" val="15566316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4E9B295-1B6F-425D-B212-4C66CE0DA113}"/>
              </a:ext>
            </a:extLst>
          </p:cNvPr>
          <p:cNvSpPr>
            <a:spLocks noGrp="1"/>
          </p:cNvSpPr>
          <p:nvPr>
            <p:ph type="title"/>
          </p:nvPr>
        </p:nvSpPr>
        <p:spPr>
          <a:xfrm>
            <a:off x="1066800" y="2664504"/>
            <a:ext cx="10058400" cy="1371600"/>
          </a:xfrm>
        </p:spPr>
        <p:txBody>
          <a:bodyPr>
            <a:normAutofit/>
          </a:bodyPr>
          <a:lstStyle/>
          <a:p>
            <a:pPr algn="ctr"/>
            <a:r>
              <a:rPr lang="en-US" sz="6600" dirty="0"/>
              <a:t>Questions</a:t>
            </a:r>
          </a:p>
        </p:txBody>
      </p:sp>
    </p:spTree>
    <p:extLst>
      <p:ext uri="{BB962C8B-B14F-4D97-AF65-F5344CB8AC3E}">
        <p14:creationId xmlns:p14="http://schemas.microsoft.com/office/powerpoint/2010/main" val="2253452733"/>
      </p:ext>
    </p:extLst>
  </p:cSld>
  <p:clrMapOvr>
    <a:masterClrMapping/>
  </p:clrMapOvr>
</p:sld>
</file>

<file path=ppt/theme/theme1.xml><?xml version="1.0" encoding="utf-8"?>
<a:theme xmlns:a="http://schemas.openxmlformats.org/drawingml/2006/main" name="Facet">
  <a:themeElements>
    <a:clrScheme name="UtahTech">
      <a:dk1>
        <a:sysClr val="windowText" lastClr="000000"/>
      </a:dk1>
      <a:lt1>
        <a:sysClr val="window" lastClr="FFFFFF"/>
      </a:lt1>
      <a:dk2>
        <a:srgbClr val="BA1C21"/>
      </a:dk2>
      <a:lt2>
        <a:srgbClr val="EBEBEB"/>
      </a:lt2>
      <a:accent1>
        <a:srgbClr val="003058"/>
      </a:accent1>
      <a:accent2>
        <a:srgbClr val="BA1C21"/>
      </a:accent2>
      <a:accent3>
        <a:srgbClr val="BA1C21"/>
      </a:accent3>
      <a:accent4>
        <a:srgbClr val="BA1C21"/>
      </a:accent4>
      <a:accent5>
        <a:srgbClr val="BA1C21"/>
      </a:accent5>
      <a:accent6>
        <a:srgbClr val="BA1C21"/>
      </a:accent6>
      <a:hlink>
        <a:srgbClr val="BA1C21"/>
      </a:hlink>
      <a:folHlink>
        <a:srgbClr val="BA1C2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15247A15C38DE40A573999B6070A975" ma:contentTypeVersion="11" ma:contentTypeDescription="Create a new document." ma:contentTypeScope="" ma:versionID="afb66a0050ffe63c0caaf523038e8bbd">
  <xsd:schema xmlns:xsd="http://www.w3.org/2001/XMLSchema" xmlns:xs="http://www.w3.org/2001/XMLSchema" xmlns:p="http://schemas.microsoft.com/office/2006/metadata/properties" xmlns:ns2="a5dae947-98e5-495e-bab1-cc2a6059ad3b" xmlns:ns3="101382ff-e895-4226-9b8b-208a50023ada" targetNamespace="http://schemas.microsoft.com/office/2006/metadata/properties" ma:root="true" ma:fieldsID="34e31e9107cc25fa3e8a352dd8873f5d" ns2:_="" ns3:_="">
    <xsd:import namespace="a5dae947-98e5-495e-bab1-cc2a6059ad3b"/>
    <xsd:import namespace="101382ff-e895-4226-9b8b-208a50023ad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dae947-98e5-495e-bab1-cc2a6059ad3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6dcab841-b377-4e82-87b7-c4480f266366"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01382ff-e895-4226-9b8b-208a50023ada"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bcad34b7-b5d1-438c-95c5-dcc7e7eb8d6f}" ma:internalName="TaxCatchAll" ma:showField="CatchAllData" ma:web="101382ff-e895-4226-9b8b-208a50023a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101382ff-e895-4226-9b8b-208a50023ada" xsi:nil="true"/>
    <lcf76f155ced4ddcb4097134ff3c332f xmlns="a5dae947-98e5-495e-bab1-cc2a6059ad3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350BFFE-9ADC-4542-9087-662071BFC3DD}"/>
</file>

<file path=customXml/itemProps2.xml><?xml version="1.0" encoding="utf-8"?>
<ds:datastoreItem xmlns:ds="http://schemas.openxmlformats.org/officeDocument/2006/customXml" ds:itemID="{686B1AA2-BC78-45B3-805A-A70E2277D77E}">
  <ds:schemaRefs>
    <ds:schemaRef ds:uri="http://schemas.microsoft.com/sharepoint/v3/contenttype/forms"/>
  </ds:schemaRefs>
</ds:datastoreItem>
</file>

<file path=customXml/itemProps3.xml><?xml version="1.0" encoding="utf-8"?>
<ds:datastoreItem xmlns:ds="http://schemas.openxmlformats.org/officeDocument/2006/customXml" ds:itemID="{62A9F3B3-60A6-4664-A1BF-7F34141BDC87}">
  <ds:schemaRefs>
    <ds:schemaRef ds:uri="http://schemas.microsoft.com/office/2006/metadata/properties"/>
    <ds:schemaRef ds:uri="0f8de707-1dbb-4092-ba38-d30ed97f1124"/>
    <ds:schemaRef ds:uri="http://purl.org/dc/elements/1.1/"/>
    <ds:schemaRef ds:uri="http://www.w3.org/XML/1998/namespace"/>
    <ds:schemaRef ds:uri="http://schemas.openxmlformats.org/package/2006/metadata/core-properties"/>
    <ds:schemaRef ds:uri="http://schemas.microsoft.com/office/2006/documentManagement/types"/>
    <ds:schemaRef ds:uri="http://schemas.microsoft.com/office/infopath/2007/PartnerControls"/>
    <ds:schemaRef ds:uri="9794a001-1d29-4107-b2cf-0763ac5084c9"/>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Facet</Template>
  <TotalTime>0</TotalTime>
  <Words>1141</Words>
  <Application>Microsoft Office PowerPoint</Application>
  <PresentationFormat>Widescreen</PresentationFormat>
  <Paragraphs>156</Paragraphs>
  <Slides>15</Slides>
  <Notes>12</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Facet</vt:lpstr>
      <vt:lpstr>PowerPoint Presentation</vt:lpstr>
      <vt:lpstr>Overview</vt:lpstr>
      <vt:lpstr>Design Statement</vt:lpstr>
      <vt:lpstr>Deliverables</vt:lpstr>
      <vt:lpstr>Needs Analysis</vt:lpstr>
      <vt:lpstr>Specification Development</vt:lpstr>
      <vt:lpstr>Specification Development</vt:lpstr>
      <vt:lpstr>Specification Development</vt:lpstr>
      <vt:lpstr>Specifications</vt:lpstr>
      <vt:lpstr>Benchmarking</vt:lpstr>
      <vt:lpstr>Market Analysis</vt:lpstr>
      <vt:lpstr>Concept Generation</vt:lpstr>
      <vt:lpstr>Decision Matrix</vt:lpstr>
      <vt:lpstr>Concept Selection</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1188</cp:revision>
  <dcterms:created xsi:type="dcterms:W3CDTF">2021-10-05T18:11:42Z</dcterms:created>
  <dcterms:modified xsi:type="dcterms:W3CDTF">2024-09-06T19:35:05Z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0x010100215247A15C38DE40A573999B6070A975</vt:lpwstr>
  </property>
</Properties>
</file>